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78" r:id="rId2"/>
    <p:sldId id="281" r:id="rId3"/>
    <p:sldId id="283" r:id="rId4"/>
    <p:sldId id="279" r:id="rId5"/>
    <p:sldId id="282" r:id="rId6"/>
    <p:sldId id="284" r:id="rId7"/>
    <p:sldId id="280" r:id="rId8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754A"/>
    <a:srgbClr val="E8BF66"/>
    <a:srgbClr val="BD934F"/>
    <a:srgbClr val="F1CF70"/>
    <a:srgbClr val="BF8442"/>
    <a:srgbClr val="FFD05D"/>
    <a:srgbClr val="BE8C51"/>
    <a:srgbClr val="004DA2"/>
    <a:srgbClr val="BB9B52"/>
    <a:srgbClr val="E6A8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59" d="100"/>
          <a:sy n="59" d="100"/>
        </p:scale>
        <p:origin x="1360" y="5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2B5AE0-17A2-D544-83BE-5C473317B95F}" type="datetimeFigureOut">
              <a:rPr kumimoji="1" lang="ja-JP" altLang="en-US" smtClean="0"/>
              <a:t>2026/1/6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D7221-B45C-9A41-B293-A4CBD237DA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正方形/長方形 43"/>
          <p:cNvSpPr/>
          <p:nvPr userDrawn="1"/>
        </p:nvSpPr>
        <p:spPr>
          <a:xfrm>
            <a:off x="0" y="6619108"/>
            <a:ext cx="9906000" cy="23889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/>
          <p:cNvSpPr/>
          <p:nvPr userDrawn="1"/>
        </p:nvSpPr>
        <p:spPr>
          <a:xfrm>
            <a:off x="0" y="136523"/>
            <a:ext cx="9798720" cy="501178"/>
          </a:xfrm>
          <a:prstGeom prst="rect">
            <a:avLst/>
          </a:prstGeom>
          <a:gradFill>
            <a:gsLst>
              <a:gs pos="65000">
                <a:srgbClr val="D2AD5C"/>
              </a:gs>
              <a:gs pos="0">
                <a:srgbClr val="BD934F"/>
              </a:gs>
              <a:gs pos="50000">
                <a:srgbClr val="F4CE71"/>
              </a:gs>
              <a:gs pos="28000">
                <a:srgbClr val="E9C36A"/>
              </a:gs>
              <a:gs pos="41000">
                <a:srgbClr val="FFD05D">
                  <a:alpha val="54902"/>
                  <a:lumMod val="41877"/>
                  <a:lumOff val="58123"/>
                </a:srgbClr>
              </a:gs>
              <a:gs pos="0">
                <a:srgbClr val="F1CF70"/>
              </a:gs>
              <a:gs pos="80000">
                <a:schemeClr val="bg1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/>
          <p:cNvSpPr/>
          <p:nvPr userDrawn="1"/>
        </p:nvSpPr>
        <p:spPr>
          <a:xfrm>
            <a:off x="319799" y="1129523"/>
            <a:ext cx="6228784" cy="46658"/>
          </a:xfrm>
          <a:prstGeom prst="rect">
            <a:avLst/>
          </a:prstGeom>
          <a:gradFill>
            <a:gsLst>
              <a:gs pos="70000">
                <a:srgbClr val="BB9B52"/>
              </a:gs>
              <a:gs pos="0">
                <a:srgbClr val="E8BF66"/>
              </a:gs>
              <a:gs pos="32000">
                <a:srgbClr val="E8BF66">
                  <a:alpha val="13663"/>
                </a:srgbClr>
              </a:gs>
              <a:gs pos="100000">
                <a:srgbClr val="E8BF66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2C4C-ED95-1B4B-A8AD-2F30004355FA}" type="datetimeFigureOut">
              <a:rPr kumimoji="1" lang="ja-JP" altLang="en-US" smtClean="0"/>
              <a:t>2026/1/6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47EED-24A6-7542-8130-110CC7EAE02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7729025" y="6619108"/>
            <a:ext cx="20826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ja-JP" altLang="en-US" sz="800">
                <a:solidFill>
                  <a:schemeClr val="tx1"/>
                </a:solidFill>
                <a:latin typeface="MS PMincho" panose="02020600040205080304" pitchFamily="18" charset="-128"/>
                <a:ea typeface="MS PMincho" panose="02020600040205080304" pitchFamily="18" charset="-128"/>
              </a:rPr>
              <a:t>株式会社</a:t>
            </a:r>
            <a:r>
              <a:rPr lang="en-US" altLang="ja-JP" sz="800">
                <a:solidFill>
                  <a:schemeClr val="tx1"/>
                </a:solidFill>
                <a:latin typeface="MS PMincho" panose="02020600040205080304" pitchFamily="18" charset="-128"/>
                <a:ea typeface="MS PMincho" panose="02020600040205080304" pitchFamily="18" charset="-128"/>
              </a:rPr>
              <a:t> </a:t>
            </a:r>
            <a:r>
              <a:rPr lang="ja-JP" altLang="en-US" sz="800">
                <a:solidFill>
                  <a:schemeClr val="tx1"/>
                </a:solidFill>
                <a:latin typeface="MS PMincho" panose="02020600040205080304" pitchFamily="18" charset="-128"/>
                <a:ea typeface="MS PMincho" panose="02020600040205080304" pitchFamily="18" charset="-128"/>
              </a:rPr>
              <a:t>三越伊勢丹　法人外商グループ</a:t>
            </a:r>
            <a:endParaRPr kumimoji="1" lang="ja-JP" altLang="en-US" sz="800">
              <a:solidFill>
                <a:schemeClr val="tx1"/>
              </a:solidFill>
              <a:latin typeface="MS PMincho" panose="02020600040205080304" pitchFamily="18" charset="-128"/>
              <a:ea typeface="MS PMincho" panose="02020600040205080304" pitchFamily="18" charset="-128"/>
            </a:endParaRPr>
          </a:p>
        </p:txBody>
      </p:sp>
      <p:sp>
        <p:nvSpPr>
          <p:cNvPr id="13" name="正方形/長方形 12"/>
          <p:cNvSpPr/>
          <p:nvPr userDrawn="1"/>
        </p:nvSpPr>
        <p:spPr>
          <a:xfrm>
            <a:off x="6622473" y="895149"/>
            <a:ext cx="3136323" cy="5538958"/>
          </a:xfrm>
          <a:prstGeom prst="rect">
            <a:avLst/>
          </a:prstGeom>
          <a:solidFill>
            <a:schemeClr val="bg1"/>
          </a:solidFill>
          <a:ln>
            <a:solidFill>
              <a:srgbClr val="E8B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 sz="1000">
              <a:solidFill>
                <a:schemeClr val="tx1"/>
              </a:solidFill>
              <a:latin typeface="MS PMincho" panose="02020600040205080304" pitchFamily="18" charset="-128"/>
              <a:ea typeface="MS PMincho" panose="02020600040205080304" pitchFamily="18" charset="-128"/>
            </a:endParaRPr>
          </a:p>
        </p:txBody>
      </p:sp>
      <p:pic>
        <p:nvPicPr>
          <p:cNvPr id="40" name="図 3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74686" y="262950"/>
            <a:ext cx="1228416" cy="359917"/>
          </a:xfrm>
          <a:prstGeom prst="rect">
            <a:avLst/>
          </a:prstGeom>
        </p:spPr>
      </p:pic>
      <p:sp>
        <p:nvSpPr>
          <p:cNvPr id="43" name="テキスト ボックス 42"/>
          <p:cNvSpPr txBox="1"/>
          <p:nvPr userDrawn="1"/>
        </p:nvSpPr>
        <p:spPr>
          <a:xfrm>
            <a:off x="304972" y="266955"/>
            <a:ext cx="27703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b="0">
                <a:latin typeface="MS PMincho" panose="02020600040205080304" pitchFamily="18" charset="-128"/>
                <a:ea typeface="MS PMincho" panose="02020600040205080304" pitchFamily="18" charset="-128"/>
              </a:rPr>
              <a:t>2025</a:t>
            </a:r>
            <a:r>
              <a:rPr kumimoji="1" lang="ja-JP" altLang="en-US" sz="1200" b="0">
                <a:latin typeface="MS PMincho" panose="02020600040205080304" pitchFamily="18" charset="-128"/>
                <a:ea typeface="MS PMincho" panose="02020600040205080304" pitchFamily="18" charset="-128"/>
              </a:rPr>
              <a:t>年</a:t>
            </a:r>
            <a:r>
              <a:rPr kumimoji="1" lang="en-US" altLang="ja-JP" sz="1200" b="0">
                <a:latin typeface="MS PMincho" panose="02020600040205080304" pitchFamily="18" charset="-128"/>
                <a:ea typeface="MS PMincho" panose="02020600040205080304" pitchFamily="18" charset="-128"/>
              </a:rPr>
              <a:t>1</a:t>
            </a:r>
            <a:r>
              <a:rPr kumimoji="1" lang="ja-JP" altLang="en-US" sz="1200" b="0">
                <a:latin typeface="MS PMincho" panose="02020600040205080304" pitchFamily="18" charset="-128"/>
                <a:ea typeface="MS PMincho" panose="02020600040205080304" pitchFamily="18" charset="-128"/>
              </a:rPr>
              <a:t>月号 福袋プレゼント品のご提案</a:t>
            </a:r>
          </a:p>
        </p:txBody>
      </p:sp>
      <p:cxnSp>
        <p:nvCxnSpPr>
          <p:cNvPr id="45" name="直線コネクタ 44"/>
          <p:cNvCxnSpPr/>
          <p:nvPr userDrawn="1"/>
        </p:nvCxnSpPr>
        <p:spPr>
          <a:xfrm>
            <a:off x="164387" y="6185043"/>
            <a:ext cx="6267235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/>
          <p:cNvSpPr txBox="1"/>
          <p:nvPr userDrawn="1"/>
        </p:nvSpPr>
        <p:spPr>
          <a:xfrm>
            <a:off x="113017" y="6031296"/>
            <a:ext cx="5212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00" i="1"/>
              <a:t>BRAND</a:t>
            </a:r>
            <a:endParaRPr kumimoji="1" lang="ja-JP" altLang="en-US" sz="900" i="1"/>
          </a:p>
        </p:txBody>
      </p:sp>
      <p:sp>
        <p:nvSpPr>
          <p:cNvPr id="2" name="テキスト ボックス 1"/>
          <p:cNvSpPr txBox="1"/>
          <p:nvPr userDrawn="1"/>
        </p:nvSpPr>
        <p:spPr>
          <a:xfrm>
            <a:off x="157113" y="6619108"/>
            <a:ext cx="68531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>
                <a:solidFill>
                  <a:schemeClr val="tx1"/>
                </a:solidFill>
                <a:latin typeface="MS Mincho" panose="02020609040205080304" pitchFamily="49" charset="-128"/>
                <a:ea typeface="MS Mincho" panose="02020609040205080304" pitchFamily="49" charset="-128"/>
              </a:rPr>
              <a:t>※</a:t>
            </a:r>
            <a:r>
              <a:rPr lang="ja-JP" altLang="en-US" sz="800" dirty="0">
                <a:solidFill>
                  <a:schemeClr val="tx1"/>
                </a:solidFill>
                <a:latin typeface="MS Mincho" panose="02020609040205080304" pitchFamily="49" charset="-128"/>
                <a:ea typeface="MS Mincho" panose="02020609040205080304" pitchFamily="49" charset="-128"/>
              </a:rPr>
              <a:t>ご提案はイメージです。　状況に応じてデザイン・サイズ・価格・スケジュール含む仕様は変更になる可能性がありますことご了承ください。</a:t>
            </a:r>
            <a:endParaRPr kumimoji="1" lang="ja-JP" altLang="en-US" sz="800" dirty="0">
              <a:solidFill>
                <a:schemeClr val="tx1"/>
              </a:solidFill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2C4C-ED95-1B4B-A8AD-2F30004355FA}" type="datetimeFigureOut">
              <a:rPr kumimoji="1" lang="ja-JP" altLang="en-US" smtClean="0"/>
              <a:t>2026/1/6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47EED-24A6-7542-8130-110CC7EAE0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2C4C-ED95-1B4B-A8AD-2F30004355FA}" type="datetimeFigureOut">
              <a:rPr kumimoji="1" lang="ja-JP" altLang="en-US" smtClean="0"/>
              <a:t>2026/1/6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47EED-24A6-7542-8130-110CC7EAE0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2C4C-ED95-1B4B-A8AD-2F30004355FA}" type="datetimeFigureOut">
              <a:rPr kumimoji="1" lang="ja-JP" altLang="en-US" smtClean="0"/>
              <a:t>2026/1/6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47EED-24A6-7542-8130-110CC7EAE0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2C4C-ED95-1B4B-A8AD-2F30004355FA}" type="datetimeFigureOut">
              <a:rPr kumimoji="1" lang="ja-JP" altLang="en-US" smtClean="0"/>
              <a:t>2026/1/6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47EED-24A6-7542-8130-110CC7EAE0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2C4C-ED95-1B4B-A8AD-2F30004355FA}" type="datetimeFigureOut">
              <a:rPr kumimoji="1" lang="ja-JP" altLang="en-US" smtClean="0"/>
              <a:t>2026/1/6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47EED-24A6-7542-8130-110CC7EAE0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2C4C-ED95-1B4B-A8AD-2F30004355FA}" type="datetimeFigureOut">
              <a:rPr kumimoji="1" lang="ja-JP" altLang="en-US" smtClean="0"/>
              <a:t>2026/1/6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47EED-24A6-7542-8130-110CC7EAE0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2C4C-ED95-1B4B-A8AD-2F30004355FA}" type="datetimeFigureOut">
              <a:rPr kumimoji="1" lang="ja-JP" altLang="en-US" smtClean="0"/>
              <a:t>2026/1/6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47EED-24A6-7542-8130-110CC7EAE0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2C4C-ED95-1B4B-A8AD-2F30004355FA}" type="datetimeFigureOut">
              <a:rPr kumimoji="1" lang="ja-JP" altLang="en-US" smtClean="0"/>
              <a:t>2026/1/6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47EED-24A6-7542-8130-110CC7EAE0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2C4C-ED95-1B4B-A8AD-2F30004355FA}" type="datetimeFigureOut">
              <a:rPr kumimoji="1" lang="ja-JP" altLang="en-US" smtClean="0"/>
              <a:t>2026/1/6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47EED-24A6-7542-8130-110CC7EAE0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62C4C-ED95-1B4B-A8AD-2F30004355FA}" type="datetimeFigureOut">
              <a:rPr kumimoji="1" lang="ja-JP" altLang="en-US" smtClean="0"/>
              <a:t>2026/1/6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47EED-24A6-7542-8130-110CC7EAE0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
第 </a:t>
            </a:r>
            <a:r>
              <a:rPr lang="en-US" altLang="ja-JP"/>
              <a:t>2 </a:t>
            </a:r>
            <a:r>
              <a:rPr lang="ja-JP" altLang="en-US"/>
              <a:t>レベル
第 </a:t>
            </a:r>
            <a:r>
              <a:rPr lang="en-US" altLang="ja-JP"/>
              <a:t>3 </a:t>
            </a:r>
            <a:r>
              <a:rPr lang="ja-JP" altLang="en-US"/>
              <a:t>レベル
第 </a:t>
            </a:r>
            <a:r>
              <a:rPr lang="en-US" altLang="ja-JP"/>
              <a:t>4 </a:t>
            </a:r>
            <a:r>
              <a:rPr lang="ja-JP" altLang="en-US"/>
              <a:t>レベル
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62C4C-ED95-1B4B-A8AD-2F30004355FA}" type="datetimeFigureOut">
              <a:rPr kumimoji="1" lang="ja-JP" altLang="en-US" smtClean="0"/>
              <a:t>2026/1/6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547EED-24A6-7542-8130-110CC7EAE0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0" y="6619108"/>
            <a:ext cx="9906000" cy="23889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/>
          <p:cNvSpPr/>
          <p:nvPr/>
        </p:nvSpPr>
        <p:spPr>
          <a:xfrm>
            <a:off x="0" y="136523"/>
            <a:ext cx="9798720" cy="501178"/>
          </a:xfrm>
          <a:prstGeom prst="rect">
            <a:avLst/>
          </a:prstGeom>
          <a:gradFill>
            <a:gsLst>
              <a:gs pos="65000">
                <a:srgbClr val="D2AD5C"/>
              </a:gs>
              <a:gs pos="0">
                <a:srgbClr val="BD934F"/>
              </a:gs>
              <a:gs pos="50000">
                <a:srgbClr val="F4CE71"/>
              </a:gs>
              <a:gs pos="28000">
                <a:srgbClr val="E9C36A"/>
              </a:gs>
              <a:gs pos="41000">
                <a:srgbClr val="FFD05D">
                  <a:alpha val="54902"/>
                  <a:lumMod val="41877"/>
                  <a:lumOff val="58123"/>
                </a:srgbClr>
              </a:gs>
              <a:gs pos="0">
                <a:srgbClr val="F1CF70"/>
              </a:gs>
              <a:gs pos="80000">
                <a:schemeClr val="bg1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/>
          <p:cNvSpPr/>
          <p:nvPr/>
        </p:nvSpPr>
        <p:spPr>
          <a:xfrm>
            <a:off x="319798" y="1129523"/>
            <a:ext cx="9281401" cy="45719"/>
          </a:xfrm>
          <a:prstGeom prst="rect">
            <a:avLst/>
          </a:prstGeom>
          <a:gradFill>
            <a:gsLst>
              <a:gs pos="70000">
                <a:srgbClr val="BB9B52"/>
              </a:gs>
              <a:gs pos="0">
                <a:srgbClr val="E8BF66"/>
              </a:gs>
              <a:gs pos="32000">
                <a:srgbClr val="E8BF66">
                  <a:alpha val="13663"/>
                </a:srgbClr>
              </a:gs>
              <a:gs pos="100000">
                <a:srgbClr val="E8BF66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729025" y="6619108"/>
            <a:ext cx="20826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ja-JP" altLang="en-US" sz="800">
                <a:solidFill>
                  <a:schemeClr val="tx1"/>
                </a:solidFill>
                <a:latin typeface="MS PMincho" panose="02020600040205080304" pitchFamily="18" charset="-128"/>
                <a:ea typeface="MS PMincho" panose="02020600040205080304" pitchFamily="18" charset="-128"/>
              </a:rPr>
              <a:t>株式会社</a:t>
            </a:r>
            <a:r>
              <a:rPr lang="en-US" altLang="ja-JP" sz="800">
                <a:solidFill>
                  <a:schemeClr val="tx1"/>
                </a:solidFill>
                <a:latin typeface="MS PMincho" panose="02020600040205080304" pitchFamily="18" charset="-128"/>
                <a:ea typeface="MS PMincho" panose="02020600040205080304" pitchFamily="18" charset="-128"/>
              </a:rPr>
              <a:t> </a:t>
            </a:r>
            <a:r>
              <a:rPr lang="ja-JP" altLang="en-US" sz="800">
                <a:solidFill>
                  <a:schemeClr val="tx1"/>
                </a:solidFill>
                <a:latin typeface="MS PMincho" panose="02020600040205080304" pitchFamily="18" charset="-128"/>
                <a:ea typeface="MS PMincho" panose="02020600040205080304" pitchFamily="18" charset="-128"/>
              </a:rPr>
              <a:t>三越伊勢丹　法人外商グループ</a:t>
            </a:r>
            <a:endParaRPr kumimoji="1" lang="ja-JP" altLang="en-US" sz="800">
              <a:solidFill>
                <a:schemeClr val="tx1"/>
              </a:solidFill>
              <a:latin typeface="MS PMincho" panose="02020600040205080304" pitchFamily="18" charset="-128"/>
              <a:ea typeface="MS PMincho" panose="02020600040205080304" pitchFamily="18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04972" y="266955"/>
            <a:ext cx="49135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latin typeface="MS PMincho" panose="02020600040205080304" pitchFamily="18" charset="-128"/>
                <a:ea typeface="MS PMincho" panose="02020600040205080304" pitchFamily="18" charset="-128"/>
              </a:rPr>
              <a:t>2026</a:t>
            </a:r>
            <a:r>
              <a:rPr lang="ja-JP" altLang="en-US" sz="1400" dirty="0">
                <a:latin typeface="MS PMincho" panose="02020600040205080304" pitchFamily="18" charset="-128"/>
                <a:ea typeface="MS PMincho" panose="02020600040205080304" pitchFamily="18" charset="-128"/>
              </a:rPr>
              <a:t>年</a:t>
            </a:r>
            <a:r>
              <a:rPr lang="en-US" altLang="ja-JP" sz="1400" dirty="0">
                <a:latin typeface="MS PMincho" panose="02020600040205080304" pitchFamily="18" charset="-128"/>
                <a:ea typeface="MS PMincho" panose="02020600040205080304" pitchFamily="18" charset="-128"/>
              </a:rPr>
              <a:t>8</a:t>
            </a:r>
            <a:r>
              <a:rPr lang="ja-JP" altLang="en-US" sz="1400" dirty="0">
                <a:latin typeface="MS PMincho" panose="02020600040205080304" pitchFamily="18" charset="-128"/>
                <a:ea typeface="MS PMincho" panose="02020600040205080304" pitchFamily="18" charset="-128"/>
              </a:rPr>
              <a:t>月号夏のキレイとゲンキを応援キャンペーンプレゼント</a:t>
            </a:r>
            <a:endParaRPr kumimoji="1" lang="ja-JP" altLang="en-US" sz="1400" b="0" dirty="0">
              <a:latin typeface="MS PMincho" panose="02020600040205080304" pitchFamily="18" charset="-128"/>
              <a:ea typeface="MS PMincho" panose="02020600040205080304" pitchFamily="18" charset="-128"/>
            </a:endParaRPr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4081837" y="3800473"/>
            <a:ext cx="1669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rPr>
              <a:t>デザインコンセプト</a:t>
            </a:r>
          </a:p>
        </p:txBody>
      </p:sp>
      <p:pic>
        <p:nvPicPr>
          <p:cNvPr id="9" name="図 8" descr="アイコン&#10;&#10;自動的に生成された説明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5815" y="228166"/>
            <a:ext cx="1095213" cy="421860"/>
          </a:xfrm>
          <a:prstGeom prst="rect">
            <a:avLst/>
          </a:prstGeom>
        </p:spPr>
      </p:pic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6428740" y="1654810"/>
            <a:ext cx="2978785" cy="3552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6800" tIns="46800" rIns="46800" bIns="46800">
            <a:no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価格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：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①片面型４色エンドレス柄転写プリント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　　　　　　　＠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400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円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　　　　　 ②無地の場合（生地帳から選択）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　　　　　　　＠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375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円</a:t>
            </a:r>
            <a:endParaRPr lang="en-US" altLang="ja-JP" sz="1100" dirty="0">
              <a:solidFill>
                <a:srgbClr val="FF0000"/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数量：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44,000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個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サイズ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：約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40×140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ｃｍ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素材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：ポリエステル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100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％ メッシュ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150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ｇ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/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ｍ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2</a:t>
            </a: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　　　　　　接触冷感、吸水速乾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　　　　　　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※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検査必須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梱包形態：１ｃ取説書、透明ＰＰ袋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　　　　　　　　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原産国：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中国　青島地区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■製品仕様：メロー縫製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　　　　　　　　</a:t>
            </a:r>
            <a:r>
              <a:rPr lang="ja-JP" altLang="en-US" sz="1100" dirty="0">
                <a:solidFill>
                  <a:srgbClr val="FF0000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　</a:t>
            </a:r>
            <a:r>
              <a:rPr lang="en-US" altLang="ja-JP" sz="1100" dirty="0">
                <a:solidFill>
                  <a:srgbClr val="FF0000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4</a:t>
            </a:r>
            <a:r>
              <a:rPr lang="ja-JP" altLang="en-US" sz="1100" dirty="0">
                <a:solidFill>
                  <a:srgbClr val="FF0000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セットプラスチック製ドットボタン</a:t>
            </a: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■備考：青島地区</a:t>
            </a:r>
            <a:endParaRPr lang="ja-JP" altLang="en-US" sz="1100" b="1" dirty="0">
              <a:solidFill>
                <a:srgbClr val="FF0000"/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6428740" y="5373347"/>
            <a:ext cx="2892425" cy="997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6800" tIns="46800" rIns="46800" bIns="46800">
            <a:no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概算スケジュール</a:t>
            </a: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・サンプル期間：約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7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日間</a:t>
            </a: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・校了・発注～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90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日後納品</a:t>
            </a:r>
            <a:endParaRPr lang="en-US" altLang="ja-JP" sz="12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6709259" y="1268989"/>
            <a:ext cx="2891769" cy="284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</a:pPr>
            <a:r>
              <a:rPr lang="ja-JP" altLang="en-US" sz="1200" dirty="0"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商品説明</a:t>
            </a:r>
            <a:endParaRPr lang="en-US" altLang="ja-JP" sz="1200" dirty="0"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957045" y="735857"/>
            <a:ext cx="5889252" cy="316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</a:pPr>
            <a:r>
              <a:rPr lang="ja-JP" altLang="en-US" sz="1400" dirty="0"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商品名　　</a:t>
            </a:r>
            <a:r>
              <a:rPr lang="en-US" altLang="ja-JP" sz="1400" dirty="0"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3way</a:t>
            </a:r>
            <a:r>
              <a:rPr lang="ja-JP" altLang="en-US" sz="1400" dirty="0"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ストール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723244" y="1320895"/>
            <a:ext cx="2777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/>
              <a:t>接触冷感・吸汗速乾・抗菌防臭</a:t>
            </a:r>
          </a:p>
          <a:p>
            <a:r>
              <a:rPr lang="en-US" altLang="ja-JP" sz="1200" b="1" dirty="0"/>
              <a:t> </a:t>
            </a:r>
            <a:r>
              <a:rPr lang="ja-JP" altLang="en-US" sz="1200" b="1" dirty="0"/>
              <a:t>紫外線対策</a:t>
            </a:r>
            <a:r>
              <a:rPr lang="en-US" altLang="ja-JP" sz="1200" b="1" dirty="0"/>
              <a:t>3way</a:t>
            </a:r>
            <a:r>
              <a:rPr lang="ja-JP" altLang="en-US" sz="1200" b="1" dirty="0"/>
              <a:t>ストール</a:t>
            </a:r>
            <a:endParaRPr kumimoji="1" lang="ja-JP" altLang="en-US" sz="1200" b="1" dirty="0"/>
          </a:p>
        </p:txBody>
      </p:sp>
      <p:pic>
        <p:nvPicPr>
          <p:cNvPr id="13" name="図 12" descr="人, 立つ, 記号, 男 が含まれている画像&#10;&#10;AI 生成コンテンツは誤りを含む可能性があります。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244" y="1928213"/>
            <a:ext cx="2682032" cy="2671949"/>
          </a:xfrm>
          <a:prstGeom prst="rect">
            <a:avLst/>
          </a:prstGeom>
        </p:spPr>
      </p:pic>
      <p:pic>
        <p:nvPicPr>
          <p:cNvPr id="15" name="図 14" descr="グラフィカル ユーザー インターフェイス, Web サイト&#10;&#10;AI 生成コンテンツは誤りを含む可能性があります。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7790" y="4634123"/>
            <a:ext cx="2727486" cy="1320988"/>
          </a:xfrm>
          <a:prstGeom prst="rect">
            <a:avLst/>
          </a:prstGeom>
        </p:spPr>
      </p:pic>
      <p:pic>
        <p:nvPicPr>
          <p:cNvPr id="16" name="図 15" descr="ベッドに寝ている赤ちゃん&#10;&#10;AI 生成コンテンツは誤りを含む可能性があります。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901671" y="1991787"/>
            <a:ext cx="1956195" cy="1725091"/>
          </a:xfrm>
          <a:prstGeom prst="rect">
            <a:avLst/>
          </a:prstGeom>
        </p:spPr>
      </p:pic>
      <p:sp>
        <p:nvSpPr>
          <p:cNvPr id="17" name="テキスト ボックス 16"/>
          <p:cNvSpPr txBox="1"/>
          <p:nvPr/>
        </p:nvSpPr>
        <p:spPr>
          <a:xfrm>
            <a:off x="4067253" y="3936707"/>
            <a:ext cx="1980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b="1" u="sng" dirty="0"/>
              <a:t>3WAY</a:t>
            </a:r>
            <a:r>
              <a:rPr kumimoji="1" lang="ja-JP" altLang="en-US" sz="1000" b="1" u="sng" dirty="0"/>
              <a:t>イメージ</a:t>
            </a:r>
            <a:endParaRPr kumimoji="1" lang="en-US" altLang="ja-JP" sz="1000" b="1" u="sng" dirty="0"/>
          </a:p>
          <a:p>
            <a:r>
              <a:rPr kumimoji="1" lang="ja-JP" altLang="en-US" sz="1000" dirty="0"/>
              <a:t>１：ストール（首に巻く）</a:t>
            </a:r>
            <a:endParaRPr kumimoji="1" lang="en-US" altLang="ja-JP" sz="1000" dirty="0"/>
          </a:p>
          <a:p>
            <a:r>
              <a:rPr lang="ja-JP" altLang="en-US" sz="1000" dirty="0"/>
              <a:t>２：肩掛け（二の腕隠す）</a:t>
            </a:r>
            <a:endParaRPr lang="en-US" altLang="ja-JP" sz="1000" dirty="0"/>
          </a:p>
          <a:p>
            <a:r>
              <a:rPr kumimoji="1" lang="ja-JP" altLang="en-US" sz="1000" dirty="0"/>
              <a:t>３：ボレロ（ボタンで袖作る）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0" y="6619108"/>
            <a:ext cx="9906000" cy="23889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/>
          <p:cNvSpPr/>
          <p:nvPr/>
        </p:nvSpPr>
        <p:spPr>
          <a:xfrm>
            <a:off x="0" y="136523"/>
            <a:ext cx="9798720" cy="501178"/>
          </a:xfrm>
          <a:prstGeom prst="rect">
            <a:avLst/>
          </a:prstGeom>
          <a:gradFill>
            <a:gsLst>
              <a:gs pos="65000">
                <a:srgbClr val="D2AD5C"/>
              </a:gs>
              <a:gs pos="0">
                <a:srgbClr val="BD934F"/>
              </a:gs>
              <a:gs pos="50000">
                <a:srgbClr val="F4CE71"/>
              </a:gs>
              <a:gs pos="28000">
                <a:srgbClr val="E9C36A"/>
              </a:gs>
              <a:gs pos="41000">
                <a:srgbClr val="FFD05D">
                  <a:alpha val="54902"/>
                  <a:lumMod val="41877"/>
                  <a:lumOff val="58123"/>
                </a:srgbClr>
              </a:gs>
              <a:gs pos="0">
                <a:srgbClr val="F1CF70"/>
              </a:gs>
              <a:gs pos="80000">
                <a:schemeClr val="bg1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/>
          <p:cNvSpPr/>
          <p:nvPr/>
        </p:nvSpPr>
        <p:spPr>
          <a:xfrm>
            <a:off x="319798" y="1129523"/>
            <a:ext cx="9281401" cy="45719"/>
          </a:xfrm>
          <a:prstGeom prst="rect">
            <a:avLst/>
          </a:prstGeom>
          <a:gradFill>
            <a:gsLst>
              <a:gs pos="70000">
                <a:srgbClr val="BB9B52"/>
              </a:gs>
              <a:gs pos="0">
                <a:srgbClr val="E8BF66"/>
              </a:gs>
              <a:gs pos="32000">
                <a:srgbClr val="E8BF66">
                  <a:alpha val="13663"/>
                </a:srgbClr>
              </a:gs>
              <a:gs pos="100000">
                <a:srgbClr val="E8BF66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729025" y="6619108"/>
            <a:ext cx="20826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ja-JP" altLang="en-US" sz="800">
                <a:solidFill>
                  <a:schemeClr val="tx1"/>
                </a:solidFill>
                <a:latin typeface="MS PMincho" panose="02020600040205080304" pitchFamily="18" charset="-128"/>
                <a:ea typeface="MS PMincho" panose="02020600040205080304" pitchFamily="18" charset="-128"/>
              </a:rPr>
              <a:t>株式会社</a:t>
            </a:r>
            <a:r>
              <a:rPr lang="en-US" altLang="ja-JP" sz="800">
                <a:solidFill>
                  <a:schemeClr val="tx1"/>
                </a:solidFill>
                <a:latin typeface="MS PMincho" panose="02020600040205080304" pitchFamily="18" charset="-128"/>
                <a:ea typeface="MS PMincho" panose="02020600040205080304" pitchFamily="18" charset="-128"/>
              </a:rPr>
              <a:t> </a:t>
            </a:r>
            <a:r>
              <a:rPr lang="ja-JP" altLang="en-US" sz="800">
                <a:solidFill>
                  <a:schemeClr val="tx1"/>
                </a:solidFill>
                <a:latin typeface="MS PMincho" panose="02020600040205080304" pitchFamily="18" charset="-128"/>
                <a:ea typeface="MS PMincho" panose="02020600040205080304" pitchFamily="18" charset="-128"/>
              </a:rPr>
              <a:t>三越伊勢丹　法人外商グループ</a:t>
            </a:r>
            <a:endParaRPr kumimoji="1" lang="ja-JP" altLang="en-US" sz="800">
              <a:solidFill>
                <a:schemeClr val="tx1"/>
              </a:solidFill>
              <a:latin typeface="MS PMincho" panose="02020600040205080304" pitchFamily="18" charset="-128"/>
              <a:ea typeface="MS PMincho" panose="02020600040205080304" pitchFamily="18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04972" y="266955"/>
            <a:ext cx="49135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latin typeface="MS PMincho" panose="02020600040205080304" pitchFamily="18" charset="-128"/>
                <a:ea typeface="MS PMincho" panose="02020600040205080304" pitchFamily="18" charset="-128"/>
              </a:rPr>
              <a:t>2026</a:t>
            </a:r>
            <a:r>
              <a:rPr lang="ja-JP" altLang="en-US" sz="1400" dirty="0">
                <a:latin typeface="MS PMincho" panose="02020600040205080304" pitchFamily="18" charset="-128"/>
                <a:ea typeface="MS PMincho" panose="02020600040205080304" pitchFamily="18" charset="-128"/>
              </a:rPr>
              <a:t>年</a:t>
            </a:r>
            <a:r>
              <a:rPr lang="en-US" altLang="ja-JP" sz="1400" dirty="0">
                <a:latin typeface="MS PMincho" panose="02020600040205080304" pitchFamily="18" charset="-128"/>
                <a:ea typeface="MS PMincho" panose="02020600040205080304" pitchFamily="18" charset="-128"/>
              </a:rPr>
              <a:t>8</a:t>
            </a:r>
            <a:r>
              <a:rPr lang="ja-JP" altLang="en-US" sz="1400" dirty="0">
                <a:latin typeface="MS PMincho" panose="02020600040205080304" pitchFamily="18" charset="-128"/>
                <a:ea typeface="MS PMincho" panose="02020600040205080304" pitchFamily="18" charset="-128"/>
              </a:rPr>
              <a:t>月号夏のキレイとゲンキを応援キャンペーンプレゼント</a:t>
            </a:r>
            <a:endParaRPr kumimoji="1" lang="ja-JP" altLang="en-US" sz="1400" b="0" dirty="0">
              <a:latin typeface="MS PMincho" panose="02020600040205080304" pitchFamily="18" charset="-128"/>
              <a:ea typeface="MS PMincho" panose="02020600040205080304" pitchFamily="18" charset="-128"/>
            </a:endParaRPr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4081837" y="3800473"/>
            <a:ext cx="1669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rPr>
              <a:t>デザインコンセプト</a:t>
            </a:r>
          </a:p>
        </p:txBody>
      </p:sp>
      <p:pic>
        <p:nvPicPr>
          <p:cNvPr id="9" name="図 8" descr="アイコン&#10;&#10;自動的に生成された説明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5815" y="228166"/>
            <a:ext cx="1095213" cy="421860"/>
          </a:xfrm>
          <a:prstGeom prst="rect">
            <a:avLst/>
          </a:prstGeom>
        </p:spPr>
      </p:pic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6805398" y="1675506"/>
            <a:ext cx="2560795" cy="2505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6800" tIns="46800" rIns="46800" bIns="468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en-US" sz="1100" dirty="0"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価格</a:t>
            </a:r>
            <a:r>
              <a:rPr lang="ja-JP" altLang="ja-JP" sz="1100" dirty="0"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：</a:t>
            </a:r>
            <a:r>
              <a:rPr lang="en-US" altLang="ja-JP" sz="1100" dirty="0"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@385</a:t>
            </a:r>
            <a:r>
              <a:rPr lang="ja-JP" altLang="en-US" sz="1100" dirty="0"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円</a:t>
            </a:r>
            <a:endParaRPr lang="en-US" altLang="ja-JP" sz="1100" dirty="0">
              <a:latin typeface="ＭＳ Ｐ明朝" panose="02020600040205080304" pitchFamily="18" charset="-128"/>
              <a:ea typeface="ＭＳ Ｐ明朝" panose="02020600040205080304" pitchFamily="18" charset="-128"/>
              <a:cs typeface="ヒラギノ明朝 ProN" panose="02020300000000000000" pitchFamily="18" charset="-128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en-US" altLang="ja-JP" sz="1100" dirty="0"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ja-JP" sz="1100" dirty="0"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数量：</a:t>
            </a:r>
            <a:r>
              <a:rPr lang="en-US" altLang="ja-JP" sz="1100" dirty="0"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44,000</a:t>
            </a:r>
            <a:r>
              <a:rPr lang="ja-JP" altLang="en-US" sz="1100" dirty="0"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個</a:t>
            </a:r>
            <a:endParaRPr lang="en-US" altLang="ja-JP" sz="1100" dirty="0">
              <a:latin typeface="ＭＳ Ｐ明朝" panose="02020600040205080304" pitchFamily="18" charset="-128"/>
              <a:ea typeface="ＭＳ Ｐ明朝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ＭＳ Ｐ明朝" panose="02020600040205080304" pitchFamily="18" charset="-128"/>
              <a:ea typeface="ＭＳ Ｐ明朝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サイズ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：約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55×120cm</a:t>
            </a: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素材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：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ポリエステル　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ＭＳ Ｐ明朝" panose="02020600040205080304" pitchFamily="18" charset="-128"/>
              <a:ea typeface="ＭＳ Ｐ明朝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　　　　　　クール糸使用　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170g/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㎡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ＭＳ Ｐ明朝" panose="02020600040205080304" pitchFamily="18" charset="-128"/>
              <a:ea typeface="ＭＳ Ｐ明朝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■印刷：昇華転写インクジェット印刷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ＭＳ Ｐ明朝" panose="02020600040205080304" pitchFamily="18" charset="-128"/>
              <a:ea typeface="ＭＳ Ｐ明朝" panose="02020600040205080304" pitchFamily="18" charset="-128"/>
              <a:cs typeface="ヒラギノ明朝 ProN" panose="02020300000000000000" pitchFamily="18" charset="-128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梱包形態：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 １ｃ取説書、透明ＰＰ袋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ＭＳ Ｐ明朝" panose="02020600040205080304" pitchFamily="18" charset="-128"/>
              <a:ea typeface="ＭＳ Ｐ明朝" panose="02020600040205080304" pitchFamily="18" charset="-128"/>
              <a:cs typeface="ヒラギノ明朝 ProN" panose="02020300000000000000" pitchFamily="18" charset="-128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　　　　　　　　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ＭＳ Ｐ明朝" panose="02020600040205080304" pitchFamily="18" charset="-128"/>
              <a:ea typeface="ＭＳ Ｐ明朝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原産国：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中国　杭州地区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ＭＳ Ｐ明朝" panose="02020600040205080304" pitchFamily="18" charset="-128"/>
              <a:ea typeface="ＭＳ Ｐ明朝" panose="02020600040205080304" pitchFamily="18" charset="-128"/>
              <a:cs typeface="ヒラギノ明朝 ProN" panose="02020300000000000000" pitchFamily="18" charset="-128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■製品仕様：メロー縫製、袖部分縫製あり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ＭＳ Ｐ明朝" panose="02020600040205080304" pitchFamily="18" charset="-128"/>
              <a:ea typeface="ＭＳ Ｐ明朝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■備考：</a:t>
            </a:r>
            <a:endParaRPr lang="en-US" altLang="ja-JP" sz="1100" b="1" dirty="0">
              <a:solidFill>
                <a:srgbClr val="FF0000"/>
              </a:solidFill>
              <a:latin typeface="ＭＳ Ｐ明朝" panose="02020600040205080304" pitchFamily="18" charset="-128"/>
              <a:ea typeface="ＭＳ Ｐ明朝" panose="02020600040205080304" pitchFamily="18" charset="-128"/>
              <a:cs typeface="ヒラギノ明朝 ProN" panose="02020300000000000000" pitchFamily="18" charset="-128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6709259" y="1268989"/>
            <a:ext cx="2891769" cy="284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</a:pPr>
            <a:r>
              <a:rPr lang="ja-JP" altLang="en-US" sz="1200" dirty="0"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商品説明</a:t>
            </a:r>
            <a:endParaRPr lang="en-US" altLang="ja-JP" sz="1200" dirty="0"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957045" y="735857"/>
            <a:ext cx="5889252" cy="316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</a:pPr>
            <a:r>
              <a:rPr lang="ja-JP" altLang="en-US" sz="1400" dirty="0"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商品名　　冷感ストール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723244" y="1320895"/>
            <a:ext cx="2777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/>
              <a:t>接触冷感・吸汗速乾・抗菌防臭</a:t>
            </a:r>
          </a:p>
          <a:p>
            <a:r>
              <a:rPr lang="en-US" altLang="ja-JP" sz="1200" b="1" dirty="0"/>
              <a:t> </a:t>
            </a:r>
            <a:r>
              <a:rPr lang="ja-JP" altLang="en-US" sz="1200" b="1" dirty="0"/>
              <a:t>紫外線対策</a:t>
            </a:r>
            <a:r>
              <a:rPr lang="en-US" altLang="ja-JP" sz="1200" b="1" dirty="0"/>
              <a:t>3way</a:t>
            </a:r>
            <a:r>
              <a:rPr lang="ja-JP" altLang="en-US" sz="1200" b="1" dirty="0"/>
              <a:t>ストール</a:t>
            </a:r>
            <a:endParaRPr kumimoji="1" lang="ja-JP" altLang="en-US" sz="1200" b="1" dirty="0"/>
          </a:p>
        </p:txBody>
      </p:sp>
      <p:pic>
        <p:nvPicPr>
          <p:cNvPr id="13" name="図 12" descr="人, 立つ, 記号, 男 が含まれている画像&#10;&#10;AI 生成コンテンツは誤りを含む可能性があります。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244" y="1928213"/>
            <a:ext cx="2682032" cy="2671949"/>
          </a:xfrm>
          <a:prstGeom prst="rect">
            <a:avLst/>
          </a:prstGeom>
        </p:spPr>
      </p:pic>
      <p:pic>
        <p:nvPicPr>
          <p:cNvPr id="15" name="図 14" descr="グラフィカル ユーザー インターフェイス, Web サイト&#10;&#10;AI 生成コンテンツは誤りを含む可能性があります。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7790" y="4634123"/>
            <a:ext cx="2727486" cy="1320988"/>
          </a:xfrm>
          <a:prstGeom prst="rect">
            <a:avLst/>
          </a:prstGeom>
        </p:spPr>
      </p:pic>
      <p:pic>
        <p:nvPicPr>
          <p:cNvPr id="16" name="図 15" descr="ベッドに寝ている赤ちゃん&#10;&#10;AI 生成コンテンツは誤りを含む可能性があります。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700780" y="1189355"/>
            <a:ext cx="2945130" cy="2597150"/>
          </a:xfrm>
          <a:prstGeom prst="rect">
            <a:avLst/>
          </a:prstGeom>
        </p:spPr>
      </p:pic>
      <p:sp>
        <p:nvSpPr>
          <p:cNvPr id="17" name="テキスト ボックス 16"/>
          <p:cNvSpPr txBox="1"/>
          <p:nvPr/>
        </p:nvSpPr>
        <p:spPr>
          <a:xfrm>
            <a:off x="4067253" y="3936707"/>
            <a:ext cx="1980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b="1" u="sng" dirty="0"/>
              <a:t>3WAY</a:t>
            </a:r>
            <a:r>
              <a:rPr kumimoji="1" lang="ja-JP" altLang="en-US" sz="1000" b="1" u="sng" dirty="0"/>
              <a:t>イメージ</a:t>
            </a:r>
            <a:endParaRPr kumimoji="1" lang="en-US" altLang="ja-JP" sz="1000" b="1" u="sng" dirty="0"/>
          </a:p>
          <a:p>
            <a:r>
              <a:rPr kumimoji="1" lang="ja-JP" altLang="en-US" sz="1000" dirty="0"/>
              <a:t>１：ストール（首に巻く）</a:t>
            </a:r>
            <a:endParaRPr kumimoji="1" lang="en-US" altLang="ja-JP" sz="1000" dirty="0"/>
          </a:p>
          <a:p>
            <a:r>
              <a:rPr lang="ja-JP" altLang="en-US" sz="1000" dirty="0"/>
              <a:t>２：肩掛け（二の腕隠す）</a:t>
            </a:r>
            <a:endParaRPr lang="en-US" altLang="ja-JP" sz="1000" dirty="0"/>
          </a:p>
          <a:p>
            <a:r>
              <a:rPr kumimoji="1" lang="ja-JP" altLang="en-US" sz="1000" dirty="0"/>
              <a:t>３：ボレロ（ボタンで袖作る）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C4E26BC0-996E-53D4-4FA3-F9EF495B5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8740" y="5373347"/>
            <a:ext cx="2892425" cy="997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6800" tIns="46800" rIns="46800" bIns="46800">
            <a:no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概算スケジュール</a:t>
            </a: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・サンプル期間：約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7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日間</a:t>
            </a: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・校了・発注～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90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日後納品</a:t>
            </a:r>
            <a:endParaRPr lang="en-US" altLang="ja-JP" sz="12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F2DE2-D5B6-18BF-66C1-E9D68550A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A0AEB0E-548A-438C-E30D-363795361F6C}"/>
              </a:ext>
            </a:extLst>
          </p:cNvPr>
          <p:cNvSpPr/>
          <p:nvPr/>
        </p:nvSpPr>
        <p:spPr>
          <a:xfrm>
            <a:off x="0" y="6619108"/>
            <a:ext cx="9906000" cy="23889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422D67E-2E6D-9146-17CD-2AA8CA42643F}"/>
              </a:ext>
            </a:extLst>
          </p:cNvPr>
          <p:cNvSpPr/>
          <p:nvPr/>
        </p:nvSpPr>
        <p:spPr>
          <a:xfrm>
            <a:off x="0" y="136523"/>
            <a:ext cx="9798720" cy="501178"/>
          </a:xfrm>
          <a:prstGeom prst="rect">
            <a:avLst/>
          </a:prstGeom>
          <a:gradFill>
            <a:gsLst>
              <a:gs pos="65000">
                <a:srgbClr val="D2AD5C"/>
              </a:gs>
              <a:gs pos="0">
                <a:srgbClr val="BD934F"/>
              </a:gs>
              <a:gs pos="50000">
                <a:srgbClr val="F4CE71"/>
              </a:gs>
              <a:gs pos="28000">
                <a:srgbClr val="E9C36A"/>
              </a:gs>
              <a:gs pos="41000">
                <a:srgbClr val="FFD05D">
                  <a:alpha val="54902"/>
                  <a:lumMod val="41877"/>
                  <a:lumOff val="58123"/>
                </a:srgbClr>
              </a:gs>
              <a:gs pos="0">
                <a:srgbClr val="F1CF70"/>
              </a:gs>
              <a:gs pos="80000">
                <a:schemeClr val="bg1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8C0809C-C70F-2EC4-AD17-909A0089D619}"/>
              </a:ext>
            </a:extLst>
          </p:cNvPr>
          <p:cNvSpPr/>
          <p:nvPr/>
        </p:nvSpPr>
        <p:spPr>
          <a:xfrm>
            <a:off x="319798" y="1129523"/>
            <a:ext cx="9281401" cy="45719"/>
          </a:xfrm>
          <a:prstGeom prst="rect">
            <a:avLst/>
          </a:prstGeom>
          <a:gradFill>
            <a:gsLst>
              <a:gs pos="70000">
                <a:srgbClr val="BB9B52"/>
              </a:gs>
              <a:gs pos="0">
                <a:srgbClr val="E8BF66"/>
              </a:gs>
              <a:gs pos="32000">
                <a:srgbClr val="E8BF66">
                  <a:alpha val="13663"/>
                </a:srgbClr>
              </a:gs>
              <a:gs pos="100000">
                <a:srgbClr val="E8BF66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3AB75F8-8749-2EB3-455D-A9E4AA01B07D}"/>
              </a:ext>
            </a:extLst>
          </p:cNvPr>
          <p:cNvSpPr txBox="1"/>
          <p:nvPr/>
        </p:nvSpPr>
        <p:spPr>
          <a:xfrm>
            <a:off x="7729025" y="6619108"/>
            <a:ext cx="20826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ja-JP" altLang="en-US" sz="800">
                <a:solidFill>
                  <a:schemeClr val="tx1"/>
                </a:solidFill>
                <a:latin typeface="MS PMincho" panose="02020600040205080304" pitchFamily="18" charset="-128"/>
                <a:ea typeface="MS PMincho" panose="02020600040205080304" pitchFamily="18" charset="-128"/>
              </a:rPr>
              <a:t>株式会社</a:t>
            </a:r>
            <a:r>
              <a:rPr lang="en-US" altLang="ja-JP" sz="800">
                <a:solidFill>
                  <a:schemeClr val="tx1"/>
                </a:solidFill>
                <a:latin typeface="MS PMincho" panose="02020600040205080304" pitchFamily="18" charset="-128"/>
                <a:ea typeface="MS PMincho" panose="02020600040205080304" pitchFamily="18" charset="-128"/>
              </a:rPr>
              <a:t> </a:t>
            </a:r>
            <a:r>
              <a:rPr lang="ja-JP" altLang="en-US" sz="800">
                <a:solidFill>
                  <a:schemeClr val="tx1"/>
                </a:solidFill>
                <a:latin typeface="MS PMincho" panose="02020600040205080304" pitchFamily="18" charset="-128"/>
                <a:ea typeface="MS PMincho" panose="02020600040205080304" pitchFamily="18" charset="-128"/>
              </a:rPr>
              <a:t>三越伊勢丹　法人外商グループ</a:t>
            </a:r>
            <a:endParaRPr kumimoji="1" lang="ja-JP" altLang="en-US" sz="800">
              <a:solidFill>
                <a:schemeClr val="tx1"/>
              </a:solidFill>
              <a:latin typeface="MS PMincho" panose="02020600040205080304" pitchFamily="18" charset="-128"/>
              <a:ea typeface="MS PMincho" panose="02020600040205080304" pitchFamily="18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42026CD-634B-3E88-56B6-7A8594C5CF39}"/>
              </a:ext>
            </a:extLst>
          </p:cNvPr>
          <p:cNvSpPr txBox="1"/>
          <p:nvPr/>
        </p:nvSpPr>
        <p:spPr>
          <a:xfrm>
            <a:off x="304972" y="266955"/>
            <a:ext cx="49135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latin typeface="MS PMincho" panose="02020600040205080304" pitchFamily="18" charset="-128"/>
                <a:ea typeface="MS PMincho" panose="02020600040205080304" pitchFamily="18" charset="-128"/>
              </a:rPr>
              <a:t>2026</a:t>
            </a:r>
            <a:r>
              <a:rPr lang="ja-JP" altLang="en-US" sz="1400" dirty="0">
                <a:latin typeface="MS PMincho" panose="02020600040205080304" pitchFamily="18" charset="-128"/>
                <a:ea typeface="MS PMincho" panose="02020600040205080304" pitchFamily="18" charset="-128"/>
              </a:rPr>
              <a:t>年</a:t>
            </a:r>
            <a:r>
              <a:rPr lang="en-US" altLang="ja-JP" sz="1400" dirty="0">
                <a:latin typeface="MS PMincho" panose="02020600040205080304" pitchFamily="18" charset="-128"/>
                <a:ea typeface="MS PMincho" panose="02020600040205080304" pitchFamily="18" charset="-128"/>
              </a:rPr>
              <a:t>8</a:t>
            </a:r>
            <a:r>
              <a:rPr lang="ja-JP" altLang="en-US" sz="1400" dirty="0">
                <a:latin typeface="MS PMincho" panose="02020600040205080304" pitchFamily="18" charset="-128"/>
                <a:ea typeface="MS PMincho" panose="02020600040205080304" pitchFamily="18" charset="-128"/>
              </a:rPr>
              <a:t>月号夏のキレイとゲンキを応援キャンペーンプレゼント</a:t>
            </a:r>
            <a:endParaRPr kumimoji="1" lang="ja-JP" altLang="en-US" sz="1400" b="0" dirty="0">
              <a:latin typeface="MS PMincho" panose="02020600040205080304" pitchFamily="18" charset="-128"/>
              <a:ea typeface="MS PMincho" panose="02020600040205080304" pitchFamily="18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EF339E71-DEEB-A6C1-F180-1DD818753C24}"/>
              </a:ext>
            </a:extLst>
          </p:cNvPr>
          <p:cNvSpPr txBox="1"/>
          <p:nvPr/>
        </p:nvSpPr>
        <p:spPr>
          <a:xfrm>
            <a:off x="4081837" y="3800473"/>
            <a:ext cx="1669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rPr>
              <a:t>デザインコンセプト</a:t>
            </a:r>
          </a:p>
        </p:txBody>
      </p:sp>
      <p:pic>
        <p:nvPicPr>
          <p:cNvPr id="9" name="図 8" descr="アイコン&#10;&#10;自動的に生成された説明">
            <a:extLst>
              <a:ext uri="{FF2B5EF4-FFF2-40B4-BE49-F238E27FC236}">
                <a16:creationId xmlns:a16="http://schemas.microsoft.com/office/drawing/2014/main" id="{2DF6C468-E472-B221-3959-892C59945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5815" y="228166"/>
            <a:ext cx="1095213" cy="421860"/>
          </a:xfrm>
          <a:prstGeom prst="rect">
            <a:avLst/>
          </a:prstGeom>
        </p:spPr>
      </p:pic>
      <p:sp>
        <p:nvSpPr>
          <p:cNvPr id="10" name="Text Box 10">
            <a:extLst>
              <a:ext uri="{FF2B5EF4-FFF2-40B4-BE49-F238E27FC236}">
                <a16:creationId xmlns:a16="http://schemas.microsoft.com/office/drawing/2014/main" id="{67D69EC0-E453-4FF4-E306-DF8DBA968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8740" y="1654810"/>
            <a:ext cx="2978785" cy="3552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6800" tIns="46800" rIns="46800" bIns="46800">
            <a:no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価格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：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①片面型４色エンドレス柄転写プリント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　　　　　　</a:t>
            </a:r>
            <a:r>
              <a:rPr lang="ja-JP" altLang="en-US" sz="1100" dirty="0">
                <a:solidFill>
                  <a:srgbClr val="FF0000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　＠</a:t>
            </a:r>
            <a:r>
              <a:rPr lang="en-US" altLang="ja-JP" sz="1100" dirty="0">
                <a:solidFill>
                  <a:srgbClr val="FF0000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360</a:t>
            </a:r>
            <a:r>
              <a:rPr lang="ja-JP" altLang="en-US" sz="1100" dirty="0">
                <a:solidFill>
                  <a:srgbClr val="FF0000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円</a:t>
            </a:r>
            <a:endParaRPr lang="en-US" altLang="ja-JP" sz="1100" dirty="0">
              <a:solidFill>
                <a:srgbClr val="FF0000"/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　　　　　 ②無地の場合（生地帳から選択）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　　　　　　　</a:t>
            </a:r>
            <a:r>
              <a:rPr lang="ja-JP" altLang="en-US" sz="1100" dirty="0">
                <a:solidFill>
                  <a:srgbClr val="FF0000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＠</a:t>
            </a:r>
            <a:r>
              <a:rPr lang="en-US" altLang="ja-JP" sz="1100" dirty="0">
                <a:solidFill>
                  <a:srgbClr val="FF0000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355</a:t>
            </a:r>
            <a:r>
              <a:rPr lang="ja-JP" altLang="en-US" sz="1100" dirty="0">
                <a:solidFill>
                  <a:srgbClr val="FF0000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円</a:t>
            </a:r>
            <a:endParaRPr lang="en-US" altLang="ja-JP" sz="1100" dirty="0">
              <a:solidFill>
                <a:srgbClr val="FF0000"/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数量：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44,000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個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ja-JP" sz="1100" dirty="0">
                <a:solidFill>
                  <a:srgbClr val="FF0000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ja-JP" sz="1100" dirty="0">
                <a:solidFill>
                  <a:srgbClr val="FF0000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サイズ</a:t>
            </a:r>
            <a:r>
              <a:rPr lang="ja-JP" altLang="en-US" sz="1100" dirty="0">
                <a:solidFill>
                  <a:srgbClr val="FF0000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：約</a:t>
            </a:r>
            <a:r>
              <a:rPr lang="en-US" altLang="ja-JP" sz="1100" dirty="0">
                <a:solidFill>
                  <a:srgbClr val="FF0000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38×140</a:t>
            </a:r>
            <a:r>
              <a:rPr lang="ja-JP" altLang="en-US" sz="1100" dirty="0">
                <a:solidFill>
                  <a:srgbClr val="FF0000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ｃｍ</a:t>
            </a:r>
            <a:endParaRPr lang="en-US" altLang="ja-JP" sz="1100" dirty="0">
              <a:solidFill>
                <a:srgbClr val="FF0000"/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素材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：ポリエステル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100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％ メッシュ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150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ｇ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/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ｍ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2</a:t>
            </a: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　　　　　　接触冷感、吸水速乾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　　　　　　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※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検査必須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梱包形態：１ｃ取説書、透明ＰＰ袋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　　　　　　　　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原産国：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中国　青島地区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■製品仕様：メロー縫製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　　　　　　　　　</a:t>
            </a:r>
            <a:r>
              <a:rPr lang="en-US" altLang="ja-JP" sz="1100" dirty="0">
                <a:solidFill>
                  <a:srgbClr val="FF0000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4</a:t>
            </a:r>
            <a:r>
              <a:rPr lang="ja-JP" altLang="en-US" sz="1100" dirty="0">
                <a:solidFill>
                  <a:srgbClr val="FF0000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セットプラスチック製ドットボタン</a:t>
            </a: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■備考：青島地区</a:t>
            </a:r>
            <a:endParaRPr lang="ja-JP" altLang="en-US" sz="1100" b="1" dirty="0">
              <a:solidFill>
                <a:srgbClr val="FF0000"/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9AAF2549-9AB9-7700-5336-299305CDF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8740" y="5373347"/>
            <a:ext cx="2892425" cy="997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6800" tIns="46800" rIns="46800" bIns="46800">
            <a:no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概算スケジュール</a:t>
            </a: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・サンプル期間：約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7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日間</a:t>
            </a: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・校了・発注～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90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日後納品</a:t>
            </a:r>
            <a:endParaRPr lang="en-US" altLang="ja-JP" sz="12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59DF563-23C1-B088-0283-FD0B3607472D}"/>
              </a:ext>
            </a:extLst>
          </p:cNvPr>
          <p:cNvSpPr txBox="1"/>
          <p:nvPr/>
        </p:nvSpPr>
        <p:spPr>
          <a:xfrm>
            <a:off x="6709259" y="1268989"/>
            <a:ext cx="2891769" cy="284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</a:pPr>
            <a:r>
              <a:rPr lang="ja-JP" altLang="en-US" sz="1200" dirty="0"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商品説明</a:t>
            </a:r>
            <a:endParaRPr lang="en-US" altLang="ja-JP" sz="1200" dirty="0"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968F48D-EFEF-7C84-8EDC-F242B019D278}"/>
              </a:ext>
            </a:extLst>
          </p:cNvPr>
          <p:cNvSpPr txBox="1"/>
          <p:nvPr/>
        </p:nvSpPr>
        <p:spPr>
          <a:xfrm>
            <a:off x="957045" y="735857"/>
            <a:ext cx="5889252" cy="316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</a:pPr>
            <a:r>
              <a:rPr lang="ja-JP" altLang="en-US" sz="1400" dirty="0"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商品名　　</a:t>
            </a:r>
            <a:r>
              <a:rPr lang="en-US" altLang="ja-JP" sz="1400" dirty="0"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3way</a:t>
            </a:r>
            <a:r>
              <a:rPr lang="ja-JP" altLang="en-US" sz="1400" dirty="0"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ストール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89EE027-ABFC-2850-D9A4-F581E48D2345}"/>
              </a:ext>
            </a:extLst>
          </p:cNvPr>
          <p:cNvSpPr txBox="1"/>
          <p:nvPr/>
        </p:nvSpPr>
        <p:spPr>
          <a:xfrm>
            <a:off x="723244" y="1320895"/>
            <a:ext cx="2777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/>
              <a:t>接触冷感・吸汗速乾・抗菌防臭</a:t>
            </a:r>
          </a:p>
          <a:p>
            <a:r>
              <a:rPr lang="en-US" altLang="ja-JP" sz="1200" b="1" dirty="0"/>
              <a:t> </a:t>
            </a:r>
            <a:r>
              <a:rPr lang="ja-JP" altLang="en-US" sz="1200" b="1" dirty="0"/>
              <a:t>紫外線対策</a:t>
            </a:r>
            <a:r>
              <a:rPr lang="en-US" altLang="ja-JP" sz="1200" b="1" dirty="0"/>
              <a:t>3way</a:t>
            </a:r>
            <a:r>
              <a:rPr lang="ja-JP" altLang="en-US" sz="1200" b="1" dirty="0"/>
              <a:t>ストール</a:t>
            </a:r>
            <a:endParaRPr kumimoji="1" lang="ja-JP" altLang="en-US" sz="1200" b="1" dirty="0"/>
          </a:p>
        </p:txBody>
      </p:sp>
      <p:pic>
        <p:nvPicPr>
          <p:cNvPr id="13" name="図 12" descr="人, 立つ, 記号, 男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A705DC53-0AEA-185D-6F6F-773EA16F987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244" y="1928213"/>
            <a:ext cx="2682032" cy="2671949"/>
          </a:xfrm>
          <a:prstGeom prst="rect">
            <a:avLst/>
          </a:prstGeom>
        </p:spPr>
      </p:pic>
      <p:pic>
        <p:nvPicPr>
          <p:cNvPr id="15" name="図 14" descr="グラフィカル ユーザー インターフェイス, Web サイト&#10;&#10;AI 生成コンテンツは誤りを含む可能性があります。">
            <a:extLst>
              <a:ext uri="{FF2B5EF4-FFF2-40B4-BE49-F238E27FC236}">
                <a16:creationId xmlns:a16="http://schemas.microsoft.com/office/drawing/2014/main" id="{2F635595-A0BC-D86B-E7B3-EEBB562CCE6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7790" y="4634123"/>
            <a:ext cx="2727486" cy="1320988"/>
          </a:xfrm>
          <a:prstGeom prst="rect">
            <a:avLst/>
          </a:prstGeom>
        </p:spPr>
      </p:pic>
      <p:pic>
        <p:nvPicPr>
          <p:cNvPr id="16" name="図 15" descr="ベッドに寝ている赤ちゃん&#10;&#10;AI 生成コンテンツは誤りを含む可能性があります。">
            <a:extLst>
              <a:ext uri="{FF2B5EF4-FFF2-40B4-BE49-F238E27FC236}">
                <a16:creationId xmlns:a16="http://schemas.microsoft.com/office/drawing/2014/main" id="{D79B7F0F-1A82-D587-58AE-F05E5968A7F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901671" y="1991787"/>
            <a:ext cx="1956195" cy="1725091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97091F0-BDBF-7EB8-4ED2-80A0F013672D}"/>
              </a:ext>
            </a:extLst>
          </p:cNvPr>
          <p:cNvSpPr txBox="1"/>
          <p:nvPr/>
        </p:nvSpPr>
        <p:spPr>
          <a:xfrm>
            <a:off x="4067253" y="3936707"/>
            <a:ext cx="1980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b="1" u="sng" dirty="0"/>
              <a:t>3WAY</a:t>
            </a:r>
            <a:r>
              <a:rPr kumimoji="1" lang="ja-JP" altLang="en-US" sz="1000" b="1" u="sng" dirty="0"/>
              <a:t>イメージ</a:t>
            </a:r>
            <a:endParaRPr kumimoji="1" lang="en-US" altLang="ja-JP" sz="1000" b="1" u="sng" dirty="0"/>
          </a:p>
          <a:p>
            <a:r>
              <a:rPr kumimoji="1" lang="ja-JP" altLang="en-US" sz="1000" dirty="0"/>
              <a:t>１：ストール（首に巻く）</a:t>
            </a:r>
            <a:endParaRPr kumimoji="1" lang="en-US" altLang="ja-JP" sz="1000" dirty="0"/>
          </a:p>
          <a:p>
            <a:r>
              <a:rPr lang="ja-JP" altLang="en-US" sz="1000" dirty="0"/>
              <a:t>２：肩掛け（二の腕隠す）</a:t>
            </a:r>
            <a:endParaRPr lang="en-US" altLang="ja-JP" sz="1000" dirty="0"/>
          </a:p>
          <a:p>
            <a:r>
              <a:rPr kumimoji="1" lang="ja-JP" altLang="en-US" sz="1000" dirty="0"/>
              <a:t>３：ボレロ（ボタンで袖作る）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04DD497-8943-3770-93BE-515A26727F51}"/>
              </a:ext>
            </a:extLst>
          </p:cNvPr>
          <p:cNvSpPr txBox="1"/>
          <p:nvPr/>
        </p:nvSpPr>
        <p:spPr>
          <a:xfrm>
            <a:off x="8752114" y="6218021"/>
            <a:ext cx="11538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solidFill>
                  <a:srgbClr val="FF0000"/>
                </a:solidFill>
              </a:rPr>
              <a:t>2026/1/6</a:t>
            </a:r>
            <a:r>
              <a:rPr kumimoji="1" lang="ja-JP" altLang="en-US" sz="1200" dirty="0">
                <a:solidFill>
                  <a:srgbClr val="FF0000"/>
                </a:solidFill>
              </a:rPr>
              <a:t>更新</a:t>
            </a:r>
          </a:p>
        </p:txBody>
      </p:sp>
    </p:spTree>
    <p:extLst>
      <p:ext uri="{BB962C8B-B14F-4D97-AF65-F5344CB8AC3E}">
        <p14:creationId xmlns:p14="http://schemas.microsoft.com/office/powerpoint/2010/main" val="1058495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0" y="6619108"/>
            <a:ext cx="9906000" cy="23889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/>
          <p:cNvSpPr/>
          <p:nvPr/>
        </p:nvSpPr>
        <p:spPr>
          <a:xfrm>
            <a:off x="0" y="136523"/>
            <a:ext cx="9798720" cy="501178"/>
          </a:xfrm>
          <a:prstGeom prst="rect">
            <a:avLst/>
          </a:prstGeom>
          <a:gradFill>
            <a:gsLst>
              <a:gs pos="65000">
                <a:srgbClr val="D2AD5C"/>
              </a:gs>
              <a:gs pos="0">
                <a:srgbClr val="BD934F"/>
              </a:gs>
              <a:gs pos="50000">
                <a:srgbClr val="F4CE71"/>
              </a:gs>
              <a:gs pos="28000">
                <a:srgbClr val="E9C36A"/>
              </a:gs>
              <a:gs pos="41000">
                <a:srgbClr val="FFD05D">
                  <a:alpha val="54902"/>
                  <a:lumMod val="41877"/>
                  <a:lumOff val="58123"/>
                </a:srgbClr>
              </a:gs>
              <a:gs pos="0">
                <a:srgbClr val="F1CF70"/>
              </a:gs>
              <a:gs pos="80000">
                <a:schemeClr val="bg1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/>
          <p:cNvSpPr/>
          <p:nvPr/>
        </p:nvSpPr>
        <p:spPr>
          <a:xfrm>
            <a:off x="319798" y="1129523"/>
            <a:ext cx="9281401" cy="45719"/>
          </a:xfrm>
          <a:prstGeom prst="rect">
            <a:avLst/>
          </a:prstGeom>
          <a:gradFill>
            <a:gsLst>
              <a:gs pos="70000">
                <a:srgbClr val="BB9B52"/>
              </a:gs>
              <a:gs pos="0">
                <a:srgbClr val="E8BF66"/>
              </a:gs>
              <a:gs pos="32000">
                <a:srgbClr val="E8BF66">
                  <a:alpha val="13663"/>
                </a:srgbClr>
              </a:gs>
              <a:gs pos="100000">
                <a:srgbClr val="E8BF66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729025" y="6619108"/>
            <a:ext cx="20826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ja-JP" altLang="en-US" sz="800">
                <a:solidFill>
                  <a:schemeClr val="tx1"/>
                </a:solidFill>
                <a:latin typeface="MS PMincho" panose="02020600040205080304" pitchFamily="18" charset="-128"/>
                <a:ea typeface="MS PMincho" panose="02020600040205080304" pitchFamily="18" charset="-128"/>
              </a:rPr>
              <a:t>株式会社</a:t>
            </a:r>
            <a:r>
              <a:rPr lang="en-US" altLang="ja-JP" sz="800">
                <a:solidFill>
                  <a:schemeClr val="tx1"/>
                </a:solidFill>
                <a:latin typeface="MS PMincho" panose="02020600040205080304" pitchFamily="18" charset="-128"/>
                <a:ea typeface="MS PMincho" panose="02020600040205080304" pitchFamily="18" charset="-128"/>
              </a:rPr>
              <a:t> </a:t>
            </a:r>
            <a:r>
              <a:rPr lang="ja-JP" altLang="en-US" sz="800">
                <a:solidFill>
                  <a:schemeClr val="tx1"/>
                </a:solidFill>
                <a:latin typeface="MS PMincho" panose="02020600040205080304" pitchFamily="18" charset="-128"/>
                <a:ea typeface="MS PMincho" panose="02020600040205080304" pitchFamily="18" charset="-128"/>
              </a:rPr>
              <a:t>三越伊勢丹　法人外商グループ</a:t>
            </a:r>
            <a:endParaRPr kumimoji="1" lang="ja-JP" altLang="en-US" sz="800">
              <a:solidFill>
                <a:schemeClr val="tx1"/>
              </a:solidFill>
              <a:latin typeface="MS PMincho" panose="02020600040205080304" pitchFamily="18" charset="-128"/>
              <a:ea typeface="MS PMincho" panose="02020600040205080304" pitchFamily="18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04972" y="266955"/>
            <a:ext cx="49135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latin typeface="MS PMincho" panose="02020600040205080304" pitchFamily="18" charset="-128"/>
                <a:ea typeface="MS PMincho" panose="02020600040205080304" pitchFamily="18" charset="-128"/>
              </a:rPr>
              <a:t>2026</a:t>
            </a:r>
            <a:r>
              <a:rPr lang="ja-JP" altLang="en-US" sz="1400" dirty="0">
                <a:latin typeface="MS PMincho" panose="02020600040205080304" pitchFamily="18" charset="-128"/>
                <a:ea typeface="MS PMincho" panose="02020600040205080304" pitchFamily="18" charset="-128"/>
              </a:rPr>
              <a:t>年</a:t>
            </a:r>
            <a:r>
              <a:rPr lang="en-US" altLang="ja-JP" sz="1400" dirty="0">
                <a:latin typeface="MS PMincho" panose="02020600040205080304" pitchFamily="18" charset="-128"/>
                <a:ea typeface="MS PMincho" panose="02020600040205080304" pitchFamily="18" charset="-128"/>
              </a:rPr>
              <a:t>8</a:t>
            </a:r>
            <a:r>
              <a:rPr lang="ja-JP" altLang="en-US" sz="1400" dirty="0">
                <a:latin typeface="MS PMincho" panose="02020600040205080304" pitchFamily="18" charset="-128"/>
                <a:ea typeface="MS PMincho" panose="02020600040205080304" pitchFamily="18" charset="-128"/>
              </a:rPr>
              <a:t>月号夏のキレイとゲンキを応援キャンペーンプレゼント</a:t>
            </a:r>
            <a:endParaRPr kumimoji="1" lang="ja-JP" altLang="en-US" sz="1400" b="0" dirty="0">
              <a:latin typeface="MS PMincho" panose="02020600040205080304" pitchFamily="18" charset="-128"/>
              <a:ea typeface="MS PMincho" panose="02020600040205080304" pitchFamily="18" charset="-128"/>
            </a:endParaRPr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4081837" y="3800473"/>
            <a:ext cx="1669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rPr>
              <a:t>デザインコンセプト</a:t>
            </a:r>
          </a:p>
        </p:txBody>
      </p:sp>
      <p:pic>
        <p:nvPicPr>
          <p:cNvPr id="9" name="図 8" descr="アイコン&#10;&#10;自動的に生成された説明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5815" y="228166"/>
            <a:ext cx="1095213" cy="421860"/>
          </a:xfrm>
          <a:prstGeom prst="rect">
            <a:avLst/>
          </a:prstGeom>
        </p:spPr>
      </p:pic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6241415" y="1962150"/>
            <a:ext cx="3166110" cy="317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6800" tIns="46800" rIns="46800" bIns="46800">
            <a:no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価格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：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@400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円</a:t>
            </a:r>
            <a:endParaRPr lang="en-US" altLang="ja-JP" sz="1100" b="1" dirty="0">
              <a:solidFill>
                <a:srgbClr val="FF0000"/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数量：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44,000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個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サイズ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：約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20×45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ｃｍ（高さ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10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㎝以内）</a:t>
            </a: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素材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：ポリエステル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100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％冷感生地、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150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ｇ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/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ｍ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2</a:t>
            </a: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　　　　　　ポリエステル中綿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250g</a:t>
            </a: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■印刷：４色エンドレス柄転写プリント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梱包形態：１ｃ取説書、透明ＰＰ袋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　　　　　　　　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原産国：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中国　青島地区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■製品仕様：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■備考：　</a:t>
            </a:r>
            <a:r>
              <a:rPr lang="ja-JP" altLang="en-US" sz="1100" b="1" dirty="0">
                <a:solidFill>
                  <a:srgbClr val="FF0000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　</a:t>
            </a: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6709259" y="1268989"/>
            <a:ext cx="2891769" cy="693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</a:pPr>
            <a:r>
              <a:rPr lang="ja-JP" altLang="en-US" sz="1200" dirty="0"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商品説明</a:t>
            </a:r>
            <a:endParaRPr lang="en-US" altLang="ja-JP" sz="1200" dirty="0"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</a:pPr>
            <a:endParaRPr lang="en-US" altLang="ja-JP" sz="1100" dirty="0"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</a:pPr>
            <a:endParaRPr lang="en-US" altLang="ja-JP" sz="1100" dirty="0"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957045" y="811399"/>
            <a:ext cx="5889252" cy="532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商品名　　</a:t>
            </a:r>
            <a:r>
              <a:rPr lang="ja-JP" altLang="en-US" sz="1400" b="1" dirty="0"/>
              <a:t>接触冷感クールダイカットクッション</a:t>
            </a:r>
            <a:endParaRPr lang="en-US" altLang="ja-JP" sz="1400" b="1" dirty="0"/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</a:pPr>
            <a:endParaRPr lang="ja-JP" altLang="en-US" sz="1400" dirty="0"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470753" y="1384757"/>
            <a:ext cx="2185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200" b="1" dirty="0"/>
              <a:t>接触冷感</a:t>
            </a:r>
            <a:endParaRPr lang="en-US" altLang="ja-JP" sz="1200" b="1" dirty="0"/>
          </a:p>
          <a:p>
            <a:pPr algn="ctr"/>
            <a:r>
              <a:rPr lang="ja-JP" altLang="en-US" sz="1200" b="1" dirty="0"/>
              <a:t>クールダイカットクッション</a:t>
            </a:r>
            <a:endParaRPr lang="en-US" altLang="ja-JP" sz="1200" b="1" dirty="0"/>
          </a:p>
        </p:txBody>
      </p:sp>
      <p:pic>
        <p:nvPicPr>
          <p:cNvPr id="18" name="図 17" descr="屋内, テーブル, 座る, 小さい が含まれている画像&#10;&#10;AI 生成コンテンツは誤りを含む可能性があります。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4908" y="1940167"/>
            <a:ext cx="3251853" cy="2799827"/>
          </a:xfrm>
          <a:prstGeom prst="rect">
            <a:avLst/>
          </a:prstGeom>
        </p:spPr>
      </p:pic>
      <p:pic>
        <p:nvPicPr>
          <p:cNvPr id="20" name="図 19" descr="テーブル, 座る, 異なる, グループ が含まれている画像&#10;&#10;AI 生成コンテンツは誤りを含む可能性があります。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1837" y="1962192"/>
            <a:ext cx="1634108" cy="1634108"/>
          </a:xfrm>
          <a:prstGeom prst="rect">
            <a:avLst/>
          </a:prstGeom>
        </p:spPr>
      </p:pic>
      <p:pic>
        <p:nvPicPr>
          <p:cNvPr id="21" name="図 20" descr="ゲームのリモコン&#10;&#10;AI 生成コンテンツは誤りを含む可能性があります。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199384" y="3885040"/>
            <a:ext cx="1275457" cy="1634108"/>
          </a:xfrm>
          <a:prstGeom prst="rect">
            <a:avLst/>
          </a:prstGeom>
        </p:spPr>
      </p:pic>
      <p:sp>
        <p:nvSpPr>
          <p:cNvPr id="13" name="Text Box 10">
            <a:extLst>
              <a:ext uri="{FF2B5EF4-FFF2-40B4-BE49-F238E27FC236}">
                <a16:creationId xmlns:a16="http://schemas.microsoft.com/office/drawing/2014/main" id="{5DB3449A-70D3-5685-70BD-69827E30A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8740" y="5373347"/>
            <a:ext cx="2892425" cy="997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6800" tIns="46800" rIns="46800" bIns="46800">
            <a:no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概算スケジュール</a:t>
            </a: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・サンプル期間：約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7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日間</a:t>
            </a: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・校了・発注～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90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日後納品</a:t>
            </a:r>
            <a:endParaRPr lang="en-US" altLang="ja-JP" sz="12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277E1B7-70D0-9352-3921-E88D74F4353A}"/>
              </a:ext>
            </a:extLst>
          </p:cNvPr>
          <p:cNvSpPr txBox="1"/>
          <p:nvPr/>
        </p:nvSpPr>
        <p:spPr>
          <a:xfrm>
            <a:off x="252163" y="5010821"/>
            <a:ext cx="3700909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・輸入経費に関わるので、中国からは圧縮して</a:t>
            </a:r>
            <a:endParaRPr lang="en-US" altLang="ja-JP" sz="1200" dirty="0"/>
          </a:p>
          <a:p>
            <a:r>
              <a:rPr lang="ja-JP" altLang="en-US" sz="1200" dirty="0"/>
              <a:t>　もってくる予定です。</a:t>
            </a:r>
            <a:endParaRPr lang="en-US" altLang="ja-JP" sz="1200" dirty="0"/>
          </a:p>
          <a:p>
            <a:r>
              <a:rPr lang="ja-JP" altLang="en-US" sz="1200" dirty="0"/>
              <a:t>・ファンケル様　国内全数検品必須条件あり</a:t>
            </a:r>
            <a:endParaRPr lang="en-US" altLang="ja-JP" sz="1200" dirty="0"/>
          </a:p>
          <a:p>
            <a:r>
              <a:rPr lang="ja-JP" altLang="en-US" sz="1200" dirty="0"/>
              <a:t>　検品後、袋入れしますが、圧縮可否は要検討</a:t>
            </a:r>
            <a:endParaRPr lang="en-US" altLang="ja-JP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0" y="6619108"/>
            <a:ext cx="9906000" cy="23889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/>
          <p:cNvSpPr/>
          <p:nvPr/>
        </p:nvSpPr>
        <p:spPr>
          <a:xfrm>
            <a:off x="0" y="136523"/>
            <a:ext cx="9798720" cy="501178"/>
          </a:xfrm>
          <a:prstGeom prst="rect">
            <a:avLst/>
          </a:prstGeom>
          <a:gradFill>
            <a:gsLst>
              <a:gs pos="65000">
                <a:srgbClr val="D2AD5C"/>
              </a:gs>
              <a:gs pos="0">
                <a:srgbClr val="BD934F"/>
              </a:gs>
              <a:gs pos="50000">
                <a:srgbClr val="F4CE71"/>
              </a:gs>
              <a:gs pos="28000">
                <a:srgbClr val="E9C36A"/>
              </a:gs>
              <a:gs pos="41000">
                <a:srgbClr val="FFD05D">
                  <a:alpha val="54902"/>
                  <a:lumMod val="41877"/>
                  <a:lumOff val="58123"/>
                </a:srgbClr>
              </a:gs>
              <a:gs pos="0">
                <a:srgbClr val="F1CF70"/>
              </a:gs>
              <a:gs pos="80000">
                <a:schemeClr val="bg1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/>
          <p:cNvSpPr/>
          <p:nvPr/>
        </p:nvSpPr>
        <p:spPr>
          <a:xfrm>
            <a:off x="319798" y="1129523"/>
            <a:ext cx="9281401" cy="45719"/>
          </a:xfrm>
          <a:prstGeom prst="rect">
            <a:avLst/>
          </a:prstGeom>
          <a:gradFill>
            <a:gsLst>
              <a:gs pos="70000">
                <a:srgbClr val="BB9B52"/>
              </a:gs>
              <a:gs pos="0">
                <a:srgbClr val="E8BF66"/>
              </a:gs>
              <a:gs pos="32000">
                <a:srgbClr val="E8BF66">
                  <a:alpha val="13663"/>
                </a:srgbClr>
              </a:gs>
              <a:gs pos="100000">
                <a:srgbClr val="E8BF66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729025" y="6619108"/>
            <a:ext cx="20826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ja-JP" altLang="en-US" sz="800">
                <a:solidFill>
                  <a:schemeClr val="tx1"/>
                </a:solidFill>
                <a:latin typeface="MS PMincho" panose="02020600040205080304" pitchFamily="18" charset="-128"/>
                <a:ea typeface="MS PMincho" panose="02020600040205080304" pitchFamily="18" charset="-128"/>
              </a:rPr>
              <a:t>株式会社</a:t>
            </a:r>
            <a:r>
              <a:rPr lang="en-US" altLang="ja-JP" sz="800">
                <a:solidFill>
                  <a:schemeClr val="tx1"/>
                </a:solidFill>
                <a:latin typeface="MS PMincho" panose="02020600040205080304" pitchFamily="18" charset="-128"/>
                <a:ea typeface="MS PMincho" panose="02020600040205080304" pitchFamily="18" charset="-128"/>
              </a:rPr>
              <a:t> </a:t>
            </a:r>
            <a:r>
              <a:rPr lang="ja-JP" altLang="en-US" sz="800">
                <a:solidFill>
                  <a:schemeClr val="tx1"/>
                </a:solidFill>
                <a:latin typeface="MS PMincho" panose="02020600040205080304" pitchFamily="18" charset="-128"/>
                <a:ea typeface="MS PMincho" panose="02020600040205080304" pitchFamily="18" charset="-128"/>
              </a:rPr>
              <a:t>三越伊勢丹　法人外商グループ</a:t>
            </a:r>
            <a:endParaRPr kumimoji="1" lang="ja-JP" altLang="en-US" sz="800">
              <a:solidFill>
                <a:schemeClr val="tx1"/>
              </a:solidFill>
              <a:latin typeface="MS PMincho" panose="02020600040205080304" pitchFamily="18" charset="-128"/>
              <a:ea typeface="MS PMincho" panose="02020600040205080304" pitchFamily="18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04972" y="266955"/>
            <a:ext cx="49135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latin typeface="MS PMincho" panose="02020600040205080304" pitchFamily="18" charset="-128"/>
                <a:ea typeface="MS PMincho" panose="02020600040205080304" pitchFamily="18" charset="-128"/>
              </a:rPr>
              <a:t>2026</a:t>
            </a:r>
            <a:r>
              <a:rPr lang="ja-JP" altLang="en-US" sz="1400" dirty="0">
                <a:latin typeface="MS PMincho" panose="02020600040205080304" pitchFamily="18" charset="-128"/>
                <a:ea typeface="MS PMincho" panose="02020600040205080304" pitchFamily="18" charset="-128"/>
              </a:rPr>
              <a:t>年</a:t>
            </a:r>
            <a:r>
              <a:rPr lang="en-US" altLang="ja-JP" sz="1400" dirty="0">
                <a:latin typeface="MS PMincho" panose="02020600040205080304" pitchFamily="18" charset="-128"/>
                <a:ea typeface="MS PMincho" panose="02020600040205080304" pitchFamily="18" charset="-128"/>
              </a:rPr>
              <a:t>8</a:t>
            </a:r>
            <a:r>
              <a:rPr lang="ja-JP" altLang="en-US" sz="1400" dirty="0">
                <a:latin typeface="MS PMincho" panose="02020600040205080304" pitchFamily="18" charset="-128"/>
                <a:ea typeface="MS PMincho" panose="02020600040205080304" pitchFamily="18" charset="-128"/>
              </a:rPr>
              <a:t>月号夏のキレイとゲンキを応援キャンペーンプレゼント</a:t>
            </a:r>
            <a:endParaRPr kumimoji="1" lang="ja-JP" altLang="en-US" sz="1400" b="0" dirty="0">
              <a:latin typeface="MS PMincho" panose="02020600040205080304" pitchFamily="18" charset="-128"/>
              <a:ea typeface="MS PMincho" panose="02020600040205080304" pitchFamily="18" charset="-128"/>
            </a:endParaRPr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4081837" y="3800473"/>
            <a:ext cx="1669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rPr>
              <a:t>デザインコンセプト</a:t>
            </a:r>
          </a:p>
        </p:txBody>
      </p:sp>
      <p:pic>
        <p:nvPicPr>
          <p:cNvPr id="9" name="図 8" descr="アイコン&#10;&#10;自動的に生成された説明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5815" y="228166"/>
            <a:ext cx="1095213" cy="421860"/>
          </a:xfrm>
          <a:prstGeom prst="rect">
            <a:avLst/>
          </a:prstGeom>
        </p:spPr>
      </p:pic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6641192" y="1580577"/>
            <a:ext cx="2891769" cy="2708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6800" tIns="46800" rIns="46800" bIns="468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価格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：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@387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円</a:t>
            </a:r>
            <a:endParaRPr lang="en-US" altLang="ja-JP" sz="1100" b="1" dirty="0">
              <a:solidFill>
                <a:srgbClr val="FF0000"/>
              </a:solidFill>
              <a:latin typeface="ＭＳ Ｐ明朝" panose="02020600040205080304" pitchFamily="18" charset="-128"/>
              <a:ea typeface="ＭＳ Ｐ明朝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数量：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44,000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個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ＭＳ Ｐ明朝" panose="02020600040205080304" pitchFamily="18" charset="-128"/>
              <a:ea typeface="ＭＳ Ｐ明朝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ＭＳ Ｐ明朝" panose="02020600040205080304" pitchFamily="18" charset="-128"/>
              <a:ea typeface="ＭＳ Ｐ明朝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サイズ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：約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25×40cm</a:t>
            </a: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素材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：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ポリエステル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90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％　ポリウレタン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10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％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ＭＳ Ｐ明朝" panose="02020600040205080304" pitchFamily="18" charset="-128"/>
              <a:ea typeface="ＭＳ Ｐ明朝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　　　　　クール糸使用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ＭＳ Ｐ明朝" panose="02020600040205080304" pitchFamily="18" charset="-128"/>
              <a:ea typeface="ＭＳ Ｐ明朝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　　　　　ポリエステル中綿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250g</a:t>
            </a: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■印刷：昇華転写インクジェット印刷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ＭＳ Ｐ明朝" panose="02020600040205080304" pitchFamily="18" charset="-128"/>
              <a:ea typeface="ＭＳ Ｐ明朝" panose="02020600040205080304" pitchFamily="18" charset="-128"/>
              <a:cs typeface="ヒラギノ明朝 ProN" panose="02020300000000000000" pitchFamily="18" charset="-128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梱包形態：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ＭＳ Ｐ明朝" panose="02020600040205080304" pitchFamily="18" charset="-128"/>
              <a:ea typeface="ＭＳ Ｐ明朝" panose="02020600040205080304" pitchFamily="18" charset="-128"/>
              <a:cs typeface="ヒラギノ明朝 ProN" panose="02020300000000000000" pitchFamily="18" charset="-128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　　　　　　　　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ＭＳ Ｐ明朝" panose="02020600040205080304" pitchFamily="18" charset="-128"/>
              <a:ea typeface="ＭＳ Ｐ明朝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原産国：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中国　杭州地区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ＭＳ Ｐ明朝" panose="02020600040205080304" pitchFamily="18" charset="-128"/>
              <a:ea typeface="ＭＳ Ｐ明朝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■製品仕様：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ＭＳ Ｐ明朝" panose="02020600040205080304" pitchFamily="18" charset="-128"/>
              <a:ea typeface="ＭＳ Ｐ明朝" panose="02020600040205080304" pitchFamily="18" charset="-128"/>
              <a:cs typeface="ヒラギノ明朝 ProN" panose="02020300000000000000" pitchFamily="18" charset="-128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■備考：　</a:t>
            </a:r>
            <a:r>
              <a:rPr lang="ja-JP" altLang="en-US" sz="1100" b="1" dirty="0">
                <a:solidFill>
                  <a:srgbClr val="FF0000"/>
                </a:solidFill>
                <a:latin typeface="ＭＳ Ｐ明朝" panose="02020600040205080304" pitchFamily="18" charset="-128"/>
                <a:ea typeface="ＭＳ Ｐ明朝" panose="02020600040205080304" pitchFamily="18" charset="-128"/>
                <a:cs typeface="ヒラギノ明朝 ProN" panose="02020300000000000000" pitchFamily="18" charset="-128"/>
              </a:rPr>
              <a:t>　</a:t>
            </a:r>
            <a:endParaRPr lang="en-US" altLang="ja-JP" sz="1100" b="1" dirty="0">
              <a:solidFill>
                <a:srgbClr val="FF0000"/>
              </a:solidFill>
              <a:latin typeface="ＭＳ Ｐ明朝" panose="02020600040205080304" pitchFamily="18" charset="-128"/>
              <a:ea typeface="ＭＳ Ｐ明朝" panose="02020600040205080304" pitchFamily="18" charset="-128"/>
              <a:cs typeface="ヒラギノ明朝 ProN" panose="02020300000000000000" pitchFamily="18" charset="-128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6709259" y="1268989"/>
            <a:ext cx="2891769" cy="284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</a:pPr>
            <a:r>
              <a:rPr lang="ja-JP" altLang="en-US" sz="1200" dirty="0"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商品説明</a:t>
            </a:r>
            <a:endParaRPr lang="en-US" altLang="ja-JP" sz="1200" dirty="0"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957045" y="811399"/>
            <a:ext cx="5889252" cy="532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商品名　　</a:t>
            </a:r>
            <a:r>
              <a:rPr lang="ja-JP" altLang="en-US" sz="1400" b="1" dirty="0"/>
              <a:t>接触冷感クールダイカットクッション</a:t>
            </a:r>
            <a:endParaRPr lang="en-US" altLang="ja-JP" sz="1400" b="1" dirty="0"/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</a:pPr>
            <a:endParaRPr lang="ja-JP" altLang="en-US" sz="1400" dirty="0"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470753" y="1384757"/>
            <a:ext cx="2185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200" b="1" dirty="0"/>
              <a:t>接触冷感</a:t>
            </a:r>
            <a:endParaRPr lang="en-US" altLang="ja-JP" sz="1200" b="1" dirty="0"/>
          </a:p>
          <a:p>
            <a:pPr algn="ctr"/>
            <a:r>
              <a:rPr lang="ja-JP" altLang="en-US" sz="1200" b="1" dirty="0"/>
              <a:t>クールダイカットクッション</a:t>
            </a:r>
            <a:endParaRPr lang="en-US" altLang="ja-JP" sz="1200" b="1" dirty="0"/>
          </a:p>
        </p:txBody>
      </p:sp>
      <p:pic>
        <p:nvPicPr>
          <p:cNvPr id="18" name="図 17" descr="屋内, テーブル, 座る, 小さい が含まれている画像&#10;&#10;AI 生成コンテンツは誤りを含む可能性があります。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4908" y="1940167"/>
            <a:ext cx="3251853" cy="2799827"/>
          </a:xfrm>
          <a:prstGeom prst="rect">
            <a:avLst/>
          </a:prstGeom>
        </p:spPr>
      </p:pic>
      <p:pic>
        <p:nvPicPr>
          <p:cNvPr id="20" name="図 19" descr="テーブル, 座る, 異なる, グループ が含まれている画像&#10;&#10;AI 生成コンテンツは誤りを含む可能性があります。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1837" y="1962192"/>
            <a:ext cx="1634108" cy="1634108"/>
          </a:xfrm>
          <a:prstGeom prst="rect">
            <a:avLst/>
          </a:prstGeom>
        </p:spPr>
      </p:pic>
      <p:pic>
        <p:nvPicPr>
          <p:cNvPr id="21" name="図 20" descr="ゲームのリモコン&#10;&#10;AI 生成コンテンツは誤りを含む可能性があります。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199384" y="3885040"/>
            <a:ext cx="1275457" cy="1634108"/>
          </a:xfrm>
          <a:prstGeom prst="rect">
            <a:avLst/>
          </a:prstGeom>
        </p:spPr>
      </p:pic>
      <p:sp>
        <p:nvSpPr>
          <p:cNvPr id="7" name="Text Box 10">
            <a:extLst>
              <a:ext uri="{FF2B5EF4-FFF2-40B4-BE49-F238E27FC236}">
                <a16:creationId xmlns:a16="http://schemas.microsoft.com/office/drawing/2014/main" id="{FC16F74C-1620-4291-420A-58472EFFE4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8740" y="5373347"/>
            <a:ext cx="2892425" cy="997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6800" tIns="46800" rIns="46800" bIns="46800">
            <a:no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概算スケジュール</a:t>
            </a: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・サンプル期間：約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7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日間</a:t>
            </a: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・校了・発注～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90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日後納品</a:t>
            </a:r>
            <a:endParaRPr lang="en-US" altLang="ja-JP" sz="12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54447CF-07FD-DDEF-1FD5-BEF41B952F22}"/>
              </a:ext>
            </a:extLst>
          </p:cNvPr>
          <p:cNvSpPr txBox="1"/>
          <p:nvPr/>
        </p:nvSpPr>
        <p:spPr>
          <a:xfrm>
            <a:off x="252163" y="5010821"/>
            <a:ext cx="3700909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・輸入経費に関わるので、中国からは圧縮して</a:t>
            </a:r>
            <a:endParaRPr lang="en-US" altLang="ja-JP" sz="1200" dirty="0"/>
          </a:p>
          <a:p>
            <a:r>
              <a:rPr lang="ja-JP" altLang="en-US" sz="1200" dirty="0"/>
              <a:t>　もってくる予定です。</a:t>
            </a:r>
            <a:endParaRPr lang="en-US" altLang="ja-JP" sz="1200" dirty="0"/>
          </a:p>
          <a:p>
            <a:r>
              <a:rPr lang="ja-JP" altLang="en-US" sz="1200" dirty="0"/>
              <a:t>・ファンケル様　国内全数検品必須条件あり</a:t>
            </a:r>
            <a:endParaRPr lang="en-US" altLang="ja-JP" sz="1200" dirty="0"/>
          </a:p>
          <a:p>
            <a:r>
              <a:rPr lang="ja-JP" altLang="en-US" sz="1200" dirty="0"/>
              <a:t>　検品後、袋入れしますが、圧縮可否は要検討</a:t>
            </a:r>
            <a:endParaRPr lang="en-US" altLang="ja-JP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D70E9-C1D7-C248-60EA-FE8605222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27BC595-EF7C-0BE5-4C80-D21493C8CD37}"/>
              </a:ext>
            </a:extLst>
          </p:cNvPr>
          <p:cNvSpPr/>
          <p:nvPr/>
        </p:nvSpPr>
        <p:spPr>
          <a:xfrm>
            <a:off x="0" y="6619108"/>
            <a:ext cx="9906000" cy="23889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A8BAFD6-6707-AD04-45E4-B6484732E822}"/>
              </a:ext>
            </a:extLst>
          </p:cNvPr>
          <p:cNvSpPr/>
          <p:nvPr/>
        </p:nvSpPr>
        <p:spPr>
          <a:xfrm>
            <a:off x="0" y="136523"/>
            <a:ext cx="9798720" cy="501178"/>
          </a:xfrm>
          <a:prstGeom prst="rect">
            <a:avLst/>
          </a:prstGeom>
          <a:gradFill>
            <a:gsLst>
              <a:gs pos="65000">
                <a:srgbClr val="D2AD5C"/>
              </a:gs>
              <a:gs pos="0">
                <a:srgbClr val="BD934F"/>
              </a:gs>
              <a:gs pos="50000">
                <a:srgbClr val="F4CE71"/>
              </a:gs>
              <a:gs pos="28000">
                <a:srgbClr val="E9C36A"/>
              </a:gs>
              <a:gs pos="41000">
                <a:srgbClr val="FFD05D">
                  <a:alpha val="54902"/>
                  <a:lumMod val="41877"/>
                  <a:lumOff val="58123"/>
                </a:srgbClr>
              </a:gs>
              <a:gs pos="0">
                <a:srgbClr val="F1CF70"/>
              </a:gs>
              <a:gs pos="80000">
                <a:schemeClr val="bg1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D8C767D-06E2-AA1B-6B9E-F464E7AB55E3}"/>
              </a:ext>
            </a:extLst>
          </p:cNvPr>
          <p:cNvSpPr/>
          <p:nvPr/>
        </p:nvSpPr>
        <p:spPr>
          <a:xfrm>
            <a:off x="319798" y="1129523"/>
            <a:ext cx="9281401" cy="45719"/>
          </a:xfrm>
          <a:prstGeom prst="rect">
            <a:avLst/>
          </a:prstGeom>
          <a:gradFill>
            <a:gsLst>
              <a:gs pos="70000">
                <a:srgbClr val="BB9B52"/>
              </a:gs>
              <a:gs pos="0">
                <a:srgbClr val="E8BF66"/>
              </a:gs>
              <a:gs pos="32000">
                <a:srgbClr val="E8BF66">
                  <a:alpha val="13663"/>
                </a:srgbClr>
              </a:gs>
              <a:gs pos="100000">
                <a:srgbClr val="E8BF66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9DF050F-15C4-AC20-679A-96E9F640CAA8}"/>
              </a:ext>
            </a:extLst>
          </p:cNvPr>
          <p:cNvSpPr txBox="1"/>
          <p:nvPr/>
        </p:nvSpPr>
        <p:spPr>
          <a:xfrm>
            <a:off x="7729025" y="6619108"/>
            <a:ext cx="20826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ja-JP" altLang="en-US" sz="800">
                <a:solidFill>
                  <a:schemeClr val="tx1"/>
                </a:solidFill>
                <a:latin typeface="MS PMincho" panose="02020600040205080304" pitchFamily="18" charset="-128"/>
                <a:ea typeface="MS PMincho" panose="02020600040205080304" pitchFamily="18" charset="-128"/>
              </a:rPr>
              <a:t>株式会社</a:t>
            </a:r>
            <a:r>
              <a:rPr lang="en-US" altLang="ja-JP" sz="800">
                <a:solidFill>
                  <a:schemeClr val="tx1"/>
                </a:solidFill>
                <a:latin typeface="MS PMincho" panose="02020600040205080304" pitchFamily="18" charset="-128"/>
                <a:ea typeface="MS PMincho" panose="02020600040205080304" pitchFamily="18" charset="-128"/>
              </a:rPr>
              <a:t> </a:t>
            </a:r>
            <a:r>
              <a:rPr lang="ja-JP" altLang="en-US" sz="800">
                <a:solidFill>
                  <a:schemeClr val="tx1"/>
                </a:solidFill>
                <a:latin typeface="MS PMincho" panose="02020600040205080304" pitchFamily="18" charset="-128"/>
                <a:ea typeface="MS PMincho" panose="02020600040205080304" pitchFamily="18" charset="-128"/>
              </a:rPr>
              <a:t>三越伊勢丹　法人外商グループ</a:t>
            </a:r>
            <a:endParaRPr kumimoji="1" lang="ja-JP" altLang="en-US" sz="800">
              <a:solidFill>
                <a:schemeClr val="tx1"/>
              </a:solidFill>
              <a:latin typeface="MS PMincho" panose="02020600040205080304" pitchFamily="18" charset="-128"/>
              <a:ea typeface="MS PMincho" panose="02020600040205080304" pitchFamily="18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18ACFD0-3440-FB1E-219F-42D198A31C33}"/>
              </a:ext>
            </a:extLst>
          </p:cNvPr>
          <p:cNvSpPr txBox="1"/>
          <p:nvPr/>
        </p:nvSpPr>
        <p:spPr>
          <a:xfrm>
            <a:off x="304972" y="266955"/>
            <a:ext cx="49135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latin typeface="MS PMincho" panose="02020600040205080304" pitchFamily="18" charset="-128"/>
                <a:ea typeface="MS PMincho" panose="02020600040205080304" pitchFamily="18" charset="-128"/>
              </a:rPr>
              <a:t>2026</a:t>
            </a:r>
            <a:r>
              <a:rPr lang="ja-JP" altLang="en-US" sz="1400" dirty="0">
                <a:latin typeface="MS PMincho" panose="02020600040205080304" pitchFamily="18" charset="-128"/>
                <a:ea typeface="MS PMincho" panose="02020600040205080304" pitchFamily="18" charset="-128"/>
              </a:rPr>
              <a:t>年</a:t>
            </a:r>
            <a:r>
              <a:rPr lang="en-US" altLang="ja-JP" sz="1400" dirty="0">
                <a:latin typeface="MS PMincho" panose="02020600040205080304" pitchFamily="18" charset="-128"/>
                <a:ea typeface="MS PMincho" panose="02020600040205080304" pitchFamily="18" charset="-128"/>
              </a:rPr>
              <a:t>8</a:t>
            </a:r>
            <a:r>
              <a:rPr lang="ja-JP" altLang="en-US" sz="1400" dirty="0">
                <a:latin typeface="MS PMincho" panose="02020600040205080304" pitchFamily="18" charset="-128"/>
                <a:ea typeface="MS PMincho" panose="02020600040205080304" pitchFamily="18" charset="-128"/>
              </a:rPr>
              <a:t>月号夏のキレイとゲンキを応援キャンペーンプレゼント</a:t>
            </a:r>
            <a:endParaRPr kumimoji="1" lang="ja-JP" altLang="en-US" sz="1400" b="0" dirty="0">
              <a:latin typeface="MS PMincho" panose="02020600040205080304" pitchFamily="18" charset="-128"/>
              <a:ea typeface="MS PMincho" panose="02020600040205080304" pitchFamily="18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E2C124F1-91A0-DC09-201C-7F70898EB1BA}"/>
              </a:ext>
            </a:extLst>
          </p:cNvPr>
          <p:cNvSpPr txBox="1"/>
          <p:nvPr/>
        </p:nvSpPr>
        <p:spPr>
          <a:xfrm>
            <a:off x="4081837" y="3800473"/>
            <a:ext cx="1669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rPr>
              <a:t>デザインコンセプト</a:t>
            </a:r>
          </a:p>
        </p:txBody>
      </p:sp>
      <p:pic>
        <p:nvPicPr>
          <p:cNvPr id="9" name="図 8" descr="アイコン&#10;&#10;自動的に生成された説明">
            <a:extLst>
              <a:ext uri="{FF2B5EF4-FFF2-40B4-BE49-F238E27FC236}">
                <a16:creationId xmlns:a16="http://schemas.microsoft.com/office/drawing/2014/main" id="{3E69E49F-570D-024C-43E0-5ED5457DD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5815" y="228166"/>
            <a:ext cx="1095213" cy="421860"/>
          </a:xfrm>
          <a:prstGeom prst="rect">
            <a:avLst/>
          </a:prstGeom>
        </p:spPr>
      </p:pic>
      <p:sp>
        <p:nvSpPr>
          <p:cNvPr id="10" name="Text Box 10">
            <a:extLst>
              <a:ext uri="{FF2B5EF4-FFF2-40B4-BE49-F238E27FC236}">
                <a16:creationId xmlns:a16="http://schemas.microsoft.com/office/drawing/2014/main" id="{B43DD32D-5F63-A1E6-9F0D-31742A731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1415" y="1962150"/>
            <a:ext cx="3166110" cy="317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6800" tIns="46800" rIns="46800" bIns="46800">
            <a:no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en-US" altLang="ja-JP" sz="1100" dirty="0">
                <a:solidFill>
                  <a:srgbClr val="FF0000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en-US" sz="1100" dirty="0">
                <a:solidFill>
                  <a:srgbClr val="FF0000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価格</a:t>
            </a:r>
            <a:r>
              <a:rPr lang="ja-JP" altLang="ja-JP" sz="1100" dirty="0">
                <a:solidFill>
                  <a:srgbClr val="FF0000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：</a:t>
            </a:r>
            <a:r>
              <a:rPr lang="en-US" altLang="ja-JP" sz="1100" dirty="0">
                <a:solidFill>
                  <a:srgbClr val="FF0000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@360</a:t>
            </a:r>
            <a:r>
              <a:rPr lang="ja-JP" altLang="en-US" sz="1100" dirty="0">
                <a:solidFill>
                  <a:srgbClr val="FF0000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円</a:t>
            </a:r>
            <a:endParaRPr lang="en-US" altLang="ja-JP" sz="1100" b="1" dirty="0">
              <a:solidFill>
                <a:srgbClr val="FF0000"/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数量：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44,000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個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ja-JP" sz="1100" dirty="0">
                <a:solidFill>
                  <a:srgbClr val="FF0000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ja-JP" sz="1100" dirty="0">
                <a:solidFill>
                  <a:srgbClr val="FF0000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サイズ</a:t>
            </a:r>
            <a:r>
              <a:rPr lang="ja-JP" altLang="en-US" sz="1100" dirty="0">
                <a:solidFill>
                  <a:srgbClr val="FF0000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：約</a:t>
            </a:r>
            <a:r>
              <a:rPr lang="en-US" altLang="ja-JP" sz="1100" dirty="0">
                <a:solidFill>
                  <a:srgbClr val="FF0000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20×40</a:t>
            </a:r>
            <a:r>
              <a:rPr lang="ja-JP" altLang="en-US" sz="1100" dirty="0">
                <a:solidFill>
                  <a:srgbClr val="FF0000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ｃｍ（高さ</a:t>
            </a:r>
            <a:r>
              <a:rPr lang="en-US" altLang="ja-JP" sz="1100" dirty="0">
                <a:solidFill>
                  <a:srgbClr val="FF0000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10</a:t>
            </a:r>
            <a:r>
              <a:rPr lang="ja-JP" altLang="en-US" sz="1100" dirty="0">
                <a:solidFill>
                  <a:srgbClr val="FF0000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㎝以内）</a:t>
            </a: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素材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：ポリエステル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100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％冷感生地、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150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ｇ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/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ｍ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2</a:t>
            </a: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　　　　　　ポリエステル中綿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250g</a:t>
            </a: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■印刷：４色エンドレス柄転写プリント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梱包形態：１ｃ取説書、透明ＰＰ袋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　　　　　　　　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原産国：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中国　青島地区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■製品仕様：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■備考：　</a:t>
            </a:r>
            <a:r>
              <a:rPr lang="ja-JP" altLang="en-US" sz="1100" b="1" dirty="0">
                <a:solidFill>
                  <a:srgbClr val="FF0000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　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A0073EC-AE11-16CD-9F73-16763EDCF933}"/>
              </a:ext>
            </a:extLst>
          </p:cNvPr>
          <p:cNvSpPr txBox="1"/>
          <p:nvPr/>
        </p:nvSpPr>
        <p:spPr>
          <a:xfrm>
            <a:off x="6709259" y="1268989"/>
            <a:ext cx="2891769" cy="693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</a:pPr>
            <a:r>
              <a:rPr lang="ja-JP" altLang="en-US" sz="1200" dirty="0"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商品説明</a:t>
            </a:r>
            <a:endParaRPr lang="en-US" altLang="ja-JP" sz="1200" dirty="0"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</a:pPr>
            <a:endParaRPr lang="en-US" altLang="ja-JP" sz="1100" dirty="0"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</a:pPr>
            <a:endParaRPr lang="en-US" altLang="ja-JP" sz="1100" dirty="0"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8383E6B-BC14-7220-33C0-3B29C1A6B31E}"/>
              </a:ext>
            </a:extLst>
          </p:cNvPr>
          <p:cNvSpPr txBox="1"/>
          <p:nvPr/>
        </p:nvSpPr>
        <p:spPr>
          <a:xfrm>
            <a:off x="957045" y="811399"/>
            <a:ext cx="5889252" cy="532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商品名　　</a:t>
            </a:r>
            <a:r>
              <a:rPr lang="ja-JP" altLang="en-US" sz="1400" b="1" dirty="0"/>
              <a:t>接触冷感クールダイカットクッション</a:t>
            </a:r>
            <a:endParaRPr lang="en-US" altLang="ja-JP" sz="1400" b="1" dirty="0"/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</a:pPr>
            <a:endParaRPr lang="ja-JP" altLang="en-US" sz="1400" dirty="0"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A8EC73D-3BFB-2C59-2A65-70D1EDE120EA}"/>
              </a:ext>
            </a:extLst>
          </p:cNvPr>
          <p:cNvSpPr txBox="1"/>
          <p:nvPr/>
        </p:nvSpPr>
        <p:spPr>
          <a:xfrm>
            <a:off x="470753" y="1384757"/>
            <a:ext cx="2185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200" b="1" dirty="0"/>
              <a:t>接触冷感</a:t>
            </a:r>
            <a:endParaRPr lang="en-US" altLang="ja-JP" sz="1200" b="1" dirty="0"/>
          </a:p>
          <a:p>
            <a:pPr algn="ctr"/>
            <a:r>
              <a:rPr lang="ja-JP" altLang="en-US" sz="1200" b="1" dirty="0"/>
              <a:t>クールダイカットクッション</a:t>
            </a:r>
            <a:endParaRPr lang="en-US" altLang="ja-JP" sz="1200" b="1" dirty="0"/>
          </a:p>
        </p:txBody>
      </p:sp>
      <p:pic>
        <p:nvPicPr>
          <p:cNvPr id="18" name="図 17" descr="屋内, テーブル, 座る, 小さい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291D0A39-EE79-E9D3-5151-0DDFD5DB526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4908" y="1940167"/>
            <a:ext cx="3251853" cy="2799827"/>
          </a:xfrm>
          <a:prstGeom prst="rect">
            <a:avLst/>
          </a:prstGeom>
        </p:spPr>
      </p:pic>
      <p:pic>
        <p:nvPicPr>
          <p:cNvPr id="20" name="図 19" descr="テーブル, 座る, 異なる, グループ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A3C876C6-8A9E-CE3A-9124-0F599DAE19C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1837" y="1962192"/>
            <a:ext cx="1634108" cy="1634108"/>
          </a:xfrm>
          <a:prstGeom prst="rect">
            <a:avLst/>
          </a:prstGeom>
        </p:spPr>
      </p:pic>
      <p:pic>
        <p:nvPicPr>
          <p:cNvPr id="21" name="図 20" descr="ゲームのリモ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4F07C502-A10B-FADE-DC22-9ED0A8CD003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199384" y="3885040"/>
            <a:ext cx="1275457" cy="1634108"/>
          </a:xfrm>
          <a:prstGeom prst="rect">
            <a:avLst/>
          </a:prstGeom>
        </p:spPr>
      </p:pic>
      <p:sp>
        <p:nvSpPr>
          <p:cNvPr id="13" name="Text Box 10">
            <a:extLst>
              <a:ext uri="{FF2B5EF4-FFF2-40B4-BE49-F238E27FC236}">
                <a16:creationId xmlns:a16="http://schemas.microsoft.com/office/drawing/2014/main" id="{67B031F8-6648-F9C9-A367-9E358589D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8740" y="5373347"/>
            <a:ext cx="2892425" cy="997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6800" tIns="46800" rIns="46800" bIns="46800">
            <a:no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概算スケジュール</a:t>
            </a: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・サンプル期間：約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7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日間</a:t>
            </a: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・校了・発注～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90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日後納品</a:t>
            </a:r>
            <a:endParaRPr lang="en-US" altLang="ja-JP" sz="12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5669643-CCA6-5050-C881-553CFE205F86}"/>
              </a:ext>
            </a:extLst>
          </p:cNvPr>
          <p:cNvSpPr txBox="1"/>
          <p:nvPr/>
        </p:nvSpPr>
        <p:spPr>
          <a:xfrm>
            <a:off x="252163" y="5010821"/>
            <a:ext cx="3700909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・輸入経費に関わるので、中国からは圧縮して</a:t>
            </a:r>
            <a:endParaRPr lang="en-US" altLang="ja-JP" sz="1200" dirty="0"/>
          </a:p>
          <a:p>
            <a:r>
              <a:rPr lang="ja-JP" altLang="en-US" sz="1200" dirty="0"/>
              <a:t>　もってくる予定です。</a:t>
            </a:r>
            <a:endParaRPr lang="en-US" altLang="ja-JP" sz="1200" dirty="0"/>
          </a:p>
          <a:p>
            <a:r>
              <a:rPr lang="ja-JP" altLang="en-US" sz="1200" dirty="0"/>
              <a:t>・ファンケル様　国内全数検品必須条件あり</a:t>
            </a:r>
            <a:endParaRPr lang="en-US" altLang="ja-JP" sz="1200" dirty="0"/>
          </a:p>
          <a:p>
            <a:r>
              <a:rPr lang="ja-JP" altLang="en-US" sz="1200" dirty="0"/>
              <a:t>　検品後、袋入れしますが、圧縮可否は要検討</a:t>
            </a:r>
            <a:endParaRPr lang="en-US" altLang="ja-JP" sz="12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F4671C3-9BAF-B574-3391-D69C5FA40458}"/>
              </a:ext>
            </a:extLst>
          </p:cNvPr>
          <p:cNvSpPr txBox="1"/>
          <p:nvPr/>
        </p:nvSpPr>
        <p:spPr>
          <a:xfrm>
            <a:off x="8752114" y="6218021"/>
            <a:ext cx="11538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solidFill>
                  <a:srgbClr val="FF0000"/>
                </a:solidFill>
              </a:rPr>
              <a:t>2026/1/6</a:t>
            </a:r>
            <a:r>
              <a:rPr kumimoji="1" lang="ja-JP" altLang="en-US" sz="1200" dirty="0">
                <a:solidFill>
                  <a:srgbClr val="FF0000"/>
                </a:solidFill>
              </a:rPr>
              <a:t>更新</a:t>
            </a:r>
          </a:p>
        </p:txBody>
      </p:sp>
    </p:spTree>
    <p:extLst>
      <p:ext uri="{BB962C8B-B14F-4D97-AF65-F5344CB8AC3E}">
        <p14:creationId xmlns:p14="http://schemas.microsoft.com/office/powerpoint/2010/main" val="40280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0" y="6619108"/>
            <a:ext cx="9906000" cy="23889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/>
          <p:cNvSpPr/>
          <p:nvPr/>
        </p:nvSpPr>
        <p:spPr>
          <a:xfrm>
            <a:off x="0" y="136523"/>
            <a:ext cx="9798720" cy="501178"/>
          </a:xfrm>
          <a:prstGeom prst="rect">
            <a:avLst/>
          </a:prstGeom>
          <a:gradFill>
            <a:gsLst>
              <a:gs pos="65000">
                <a:srgbClr val="D2AD5C"/>
              </a:gs>
              <a:gs pos="0">
                <a:srgbClr val="BD934F"/>
              </a:gs>
              <a:gs pos="50000">
                <a:srgbClr val="F4CE71"/>
              </a:gs>
              <a:gs pos="28000">
                <a:srgbClr val="E9C36A"/>
              </a:gs>
              <a:gs pos="41000">
                <a:srgbClr val="FFD05D">
                  <a:alpha val="54902"/>
                  <a:lumMod val="41877"/>
                  <a:lumOff val="58123"/>
                </a:srgbClr>
              </a:gs>
              <a:gs pos="0">
                <a:srgbClr val="F1CF70"/>
              </a:gs>
              <a:gs pos="80000">
                <a:schemeClr val="bg1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/>
          <p:cNvSpPr/>
          <p:nvPr/>
        </p:nvSpPr>
        <p:spPr>
          <a:xfrm>
            <a:off x="319798" y="1129523"/>
            <a:ext cx="9281401" cy="45719"/>
          </a:xfrm>
          <a:prstGeom prst="rect">
            <a:avLst/>
          </a:prstGeom>
          <a:gradFill>
            <a:gsLst>
              <a:gs pos="70000">
                <a:srgbClr val="BB9B52"/>
              </a:gs>
              <a:gs pos="0">
                <a:srgbClr val="E8BF66"/>
              </a:gs>
              <a:gs pos="32000">
                <a:srgbClr val="E8BF66">
                  <a:alpha val="13663"/>
                </a:srgbClr>
              </a:gs>
              <a:gs pos="100000">
                <a:srgbClr val="E8BF66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729025" y="6619108"/>
            <a:ext cx="20826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ja-JP" altLang="en-US" sz="800">
                <a:solidFill>
                  <a:schemeClr val="tx1"/>
                </a:solidFill>
                <a:latin typeface="MS PMincho" panose="02020600040205080304" pitchFamily="18" charset="-128"/>
                <a:ea typeface="MS PMincho" panose="02020600040205080304" pitchFamily="18" charset="-128"/>
              </a:rPr>
              <a:t>株式会社</a:t>
            </a:r>
            <a:r>
              <a:rPr lang="en-US" altLang="ja-JP" sz="800">
                <a:solidFill>
                  <a:schemeClr val="tx1"/>
                </a:solidFill>
                <a:latin typeface="MS PMincho" panose="02020600040205080304" pitchFamily="18" charset="-128"/>
                <a:ea typeface="MS PMincho" panose="02020600040205080304" pitchFamily="18" charset="-128"/>
              </a:rPr>
              <a:t> </a:t>
            </a:r>
            <a:r>
              <a:rPr lang="ja-JP" altLang="en-US" sz="800">
                <a:solidFill>
                  <a:schemeClr val="tx1"/>
                </a:solidFill>
                <a:latin typeface="MS PMincho" panose="02020600040205080304" pitchFamily="18" charset="-128"/>
                <a:ea typeface="MS PMincho" panose="02020600040205080304" pitchFamily="18" charset="-128"/>
              </a:rPr>
              <a:t>三越伊勢丹　法人外商グループ</a:t>
            </a:r>
            <a:endParaRPr kumimoji="1" lang="ja-JP" altLang="en-US" sz="800">
              <a:solidFill>
                <a:schemeClr val="tx1"/>
              </a:solidFill>
              <a:latin typeface="MS PMincho" panose="02020600040205080304" pitchFamily="18" charset="-128"/>
              <a:ea typeface="MS PMincho" panose="02020600040205080304" pitchFamily="18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04972" y="266955"/>
            <a:ext cx="49135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latin typeface="MS PMincho" panose="02020600040205080304" pitchFamily="18" charset="-128"/>
                <a:ea typeface="MS PMincho" panose="02020600040205080304" pitchFamily="18" charset="-128"/>
              </a:rPr>
              <a:t>2026</a:t>
            </a:r>
            <a:r>
              <a:rPr lang="ja-JP" altLang="en-US" sz="1400" dirty="0">
                <a:latin typeface="MS PMincho" panose="02020600040205080304" pitchFamily="18" charset="-128"/>
                <a:ea typeface="MS PMincho" panose="02020600040205080304" pitchFamily="18" charset="-128"/>
              </a:rPr>
              <a:t>年</a:t>
            </a:r>
            <a:r>
              <a:rPr lang="en-US" altLang="ja-JP" sz="1400" dirty="0">
                <a:latin typeface="MS PMincho" panose="02020600040205080304" pitchFamily="18" charset="-128"/>
                <a:ea typeface="MS PMincho" panose="02020600040205080304" pitchFamily="18" charset="-128"/>
              </a:rPr>
              <a:t>8</a:t>
            </a:r>
            <a:r>
              <a:rPr lang="ja-JP" altLang="en-US" sz="1400" dirty="0">
                <a:latin typeface="MS PMincho" panose="02020600040205080304" pitchFamily="18" charset="-128"/>
                <a:ea typeface="MS PMincho" panose="02020600040205080304" pitchFamily="18" charset="-128"/>
              </a:rPr>
              <a:t>月号夏のキレイとゲンキを応援キャンペーンプレゼント</a:t>
            </a:r>
            <a:endParaRPr kumimoji="1" lang="ja-JP" altLang="en-US" sz="1400" b="0" dirty="0">
              <a:latin typeface="MS PMincho" panose="02020600040205080304" pitchFamily="18" charset="-128"/>
              <a:ea typeface="MS PMincho" panose="02020600040205080304" pitchFamily="18" charset="-128"/>
            </a:endParaRPr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4081837" y="3800473"/>
            <a:ext cx="1669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rPr>
              <a:t>デザインコンセプト</a:t>
            </a:r>
          </a:p>
        </p:txBody>
      </p:sp>
      <p:pic>
        <p:nvPicPr>
          <p:cNvPr id="9" name="図 8" descr="アイコン&#10;&#10;自動的に生成された説明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5815" y="228166"/>
            <a:ext cx="1095213" cy="421860"/>
          </a:xfrm>
          <a:prstGeom prst="rect">
            <a:avLst/>
          </a:prstGeom>
        </p:spPr>
      </p:pic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6846297" y="1952597"/>
            <a:ext cx="2560795" cy="2098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6800" tIns="46800" rIns="46800" bIns="468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価格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：</a:t>
            </a:r>
            <a:endParaRPr lang="en-US" altLang="ja-JP" sz="1100" dirty="0">
              <a:solidFill>
                <a:srgbClr val="FF0000"/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数量：</a:t>
            </a: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44,000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個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サイズ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：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素材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：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梱包形態：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　　　　　　　　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原産国：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■製品仕様：</a:t>
            </a:r>
            <a:endParaRPr lang="en-US" altLang="ja-JP" sz="11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■備考　</a:t>
            </a:r>
            <a:r>
              <a:rPr lang="ja-JP" altLang="en-US" sz="1100" b="1" dirty="0">
                <a:solidFill>
                  <a:srgbClr val="FF0000"/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　</a:t>
            </a:r>
            <a:endParaRPr lang="en-US" altLang="ja-JP" sz="1100" b="1" dirty="0">
              <a:solidFill>
                <a:srgbClr val="FF0000"/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6850903" y="4189460"/>
            <a:ext cx="2469787" cy="139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6800" tIns="46800" rIns="46800" bIns="468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■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概算スケジュール</a:t>
            </a:r>
            <a:endParaRPr lang="en-US" altLang="ja-JP" sz="12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 eaLnBrk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6709259" y="1268989"/>
            <a:ext cx="2891769" cy="693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</a:pPr>
            <a:r>
              <a:rPr lang="ja-JP" altLang="en-US" sz="1200" dirty="0"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商品説明</a:t>
            </a:r>
            <a:endParaRPr lang="en-US" altLang="ja-JP" sz="1200" dirty="0"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</a:pPr>
            <a:endParaRPr lang="en-US" altLang="ja-JP" sz="1100" dirty="0"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</a:pPr>
            <a:endParaRPr lang="en-US" altLang="ja-JP" sz="1100" dirty="0">
              <a:latin typeface="MS PMincho" panose="02020600040205080304" pitchFamily="18" charset="-128"/>
              <a:ea typeface="MS PMincho" panose="02020600040205080304" pitchFamily="18" charset="-128"/>
              <a:cs typeface="ヒラギノ明朝 ProN" panose="02020300000000000000" pitchFamily="18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957045" y="811399"/>
            <a:ext cx="5889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商品名 </a:t>
            </a:r>
            <a:r>
              <a:rPr lang="ja-JP" altLang="en-US" sz="1400" b="1" dirty="0"/>
              <a:t>アイスチューブ付きクリアボトル</a:t>
            </a:r>
          </a:p>
          <a:p>
            <a:pPr algn="ctr"/>
            <a:r>
              <a:rPr lang="ja-JP" altLang="en-US" sz="1400" dirty="0">
                <a:latin typeface="MS PMincho" panose="02020600040205080304" pitchFamily="18" charset="-128"/>
                <a:ea typeface="MS PMincho" panose="02020600040205080304" pitchFamily="18" charset="-128"/>
                <a:cs typeface="ヒラギノ明朝 ProN" panose="02020300000000000000" pitchFamily="18" charset="-128"/>
              </a:rPr>
              <a:t>　　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09660" y="1455129"/>
            <a:ext cx="2492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b="1" dirty="0"/>
              <a:t>アイスチューブ付きクリアボトル</a:t>
            </a:r>
            <a:endParaRPr kumimoji="1" lang="ja-JP" altLang="en-US" sz="1200" b="1" dirty="0"/>
          </a:p>
        </p:txBody>
      </p:sp>
      <p:pic>
        <p:nvPicPr>
          <p:cNvPr id="13" name="図 12" descr="白いバックグラウンドの前にあるボトル&#10;&#10;AI 生成コンテンツは誤りを含む可能性があります。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8908" y="2046344"/>
            <a:ext cx="1180374" cy="2665588"/>
          </a:xfrm>
          <a:prstGeom prst="rect">
            <a:avLst/>
          </a:prstGeom>
        </p:spPr>
      </p:pic>
      <p:pic>
        <p:nvPicPr>
          <p:cNvPr id="15" name="図 14" descr="木製テーブルの上に置かれたボトル&#10;&#10;AI 生成コンテンツは誤りを含む可能性があります。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80619" y="2100308"/>
            <a:ext cx="1316858" cy="2518651"/>
          </a:xfrm>
          <a:prstGeom prst="rect">
            <a:avLst/>
          </a:prstGeom>
        </p:spPr>
      </p:pic>
      <p:pic>
        <p:nvPicPr>
          <p:cNvPr id="16" name="図 15" descr="テキスト, 手紙&#10;&#10;AI 生成コンテンツは誤りを含む可能性があります。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4918" y="4893210"/>
            <a:ext cx="2310180" cy="1356291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FD459DB-9239-B9CA-AC9C-E0966B7A59F2}"/>
              </a:ext>
            </a:extLst>
          </p:cNvPr>
          <p:cNvSpPr txBox="1"/>
          <p:nvPr/>
        </p:nvSpPr>
        <p:spPr>
          <a:xfrm>
            <a:off x="3928293" y="5787836"/>
            <a:ext cx="2580408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アイスチューブ付きボトル</a:t>
            </a:r>
            <a:endParaRPr lang="en-US" altLang="ja-JP" sz="1200" dirty="0"/>
          </a:p>
          <a:p>
            <a:r>
              <a:rPr lang="ja-JP" altLang="en-US" sz="1200" dirty="0"/>
              <a:t>できる工場探せてないです。</a:t>
            </a:r>
            <a:endParaRPr lang="en-US" altLang="ja-JP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</TotalTime>
  <Words>1046</Words>
  <Application>Microsoft Office PowerPoint</Application>
  <PresentationFormat>A4 210 x 297 mm</PresentationFormat>
  <Paragraphs>215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6" baseType="lpstr">
      <vt:lpstr>ＭＳ Ｐ明朝</vt:lpstr>
      <vt:lpstr>ＭＳ Ｐ明朝</vt:lpstr>
      <vt:lpstr>MS Mincho</vt:lpstr>
      <vt:lpstr>游ゴシック</vt:lpstr>
      <vt:lpstr>Arial</vt:lpstr>
      <vt:lpstr>Calibri</vt:lpstr>
      <vt:lpstr>Calibri Light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Microsoft Office User</dc:creator>
  <cp:lastModifiedBy>髙橋 佳苗</cp:lastModifiedBy>
  <cp:revision>15</cp:revision>
  <cp:lastPrinted>2023-02-11T04:04:00Z</cp:lastPrinted>
  <dcterms:created xsi:type="dcterms:W3CDTF">2022-09-30T06:27:00Z</dcterms:created>
  <dcterms:modified xsi:type="dcterms:W3CDTF">2026-01-06T00:39:19Z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EEB374805F2E4887B3654AC232701E8D_12</vt:lpwstr>
  </property>
</Properties>
</file>