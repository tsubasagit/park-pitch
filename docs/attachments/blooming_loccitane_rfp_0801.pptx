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7" r:id="rId2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C234"/>
    <a:srgbClr val="E9EB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淡色スタイル 2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C4B1156A-380E-4F78-BDF5-A606A8083BF9}" styleName="中間スタイル 4 - アクセント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5" autoAdjust="0"/>
    <p:restoredTop sz="94718" autoAdjust="0"/>
  </p:normalViewPr>
  <p:slideViewPr>
    <p:cSldViewPr snapToGrid="0" showGuides="1">
      <p:cViewPr>
        <p:scale>
          <a:sx n="60" d="100"/>
          <a:sy n="60" d="100"/>
        </p:scale>
        <p:origin x="-1508" y="-168"/>
      </p:cViewPr>
      <p:guideLst>
        <p:guide orient="horz" pos="2160"/>
        <p:guide pos="384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1ECBFC-4CBF-074F-9D78-A9154C863AD9}" type="datetimeFigureOut">
              <a:rPr kumimoji="1" lang="ja-JP" altLang="en-US" smtClean="0"/>
              <a:t>2025/8/1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77C68D-6DAB-5E4D-819E-F0E5FF9FE6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4701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3FD9E-AE14-43D8-A66D-339AA7855FA4}" type="datetimeFigureOut">
              <a:rPr kumimoji="1" lang="ja-JP" altLang="en-US" smtClean="0"/>
              <a:t>2025/8/1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F4799-BCB2-4324-955E-71FCFE1013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3FD9E-AE14-43D8-A66D-339AA7855FA4}" type="datetimeFigureOut">
              <a:rPr kumimoji="1" lang="ja-JP" altLang="en-US" smtClean="0"/>
              <a:t>2025/8/1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F4799-BCB2-4324-955E-71FCFE1013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3FD9E-AE14-43D8-A66D-339AA7855FA4}" type="datetimeFigureOut">
              <a:rPr kumimoji="1" lang="ja-JP" altLang="en-US" smtClean="0"/>
              <a:t>2025/8/1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F4799-BCB2-4324-955E-71FCFE1013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3FD9E-AE14-43D8-A66D-339AA7855FA4}" type="datetimeFigureOut">
              <a:rPr kumimoji="1" lang="ja-JP" altLang="en-US" smtClean="0"/>
              <a:t>2025/8/1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F4799-BCB2-4324-955E-71FCFE1013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3FD9E-AE14-43D8-A66D-339AA7855FA4}" type="datetimeFigureOut">
              <a:rPr kumimoji="1" lang="ja-JP" altLang="en-US" smtClean="0"/>
              <a:t>2025/8/1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F4799-BCB2-4324-955E-71FCFE1013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3FD9E-AE14-43D8-A66D-339AA7855FA4}" type="datetimeFigureOut">
              <a:rPr kumimoji="1" lang="ja-JP" altLang="en-US" smtClean="0"/>
              <a:t>2025/8/1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F4799-BCB2-4324-955E-71FCFE1013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3FD9E-AE14-43D8-A66D-339AA7855FA4}" type="datetimeFigureOut">
              <a:rPr kumimoji="1" lang="ja-JP" altLang="en-US" smtClean="0"/>
              <a:t>2025/8/1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F4799-BCB2-4324-955E-71FCFE1013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3FD9E-AE14-43D8-A66D-339AA7855FA4}" type="datetimeFigureOut">
              <a:rPr kumimoji="1" lang="ja-JP" altLang="en-US" smtClean="0"/>
              <a:t>2025/8/1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F4799-BCB2-4324-955E-71FCFE1013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3FD9E-AE14-43D8-A66D-339AA7855FA4}" type="datetimeFigureOut">
              <a:rPr kumimoji="1" lang="ja-JP" altLang="en-US" smtClean="0"/>
              <a:t>2025/8/1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F4799-BCB2-4324-955E-71FCFE1013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3FD9E-AE14-43D8-A66D-339AA7855FA4}" type="datetimeFigureOut">
              <a:rPr kumimoji="1" lang="ja-JP" altLang="en-US" smtClean="0"/>
              <a:t>2025/8/1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F4799-BCB2-4324-955E-71FCFE1013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3FD9E-AE14-43D8-A66D-339AA7855FA4}" type="datetimeFigureOut">
              <a:rPr kumimoji="1" lang="ja-JP" altLang="en-US" smtClean="0"/>
              <a:t>2025/8/1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F4799-BCB2-4324-955E-71FCFE1013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C3FD9E-AE14-43D8-A66D-339AA7855FA4}" type="datetimeFigureOut">
              <a:rPr kumimoji="1" lang="ja-JP" altLang="en-US" smtClean="0"/>
              <a:t>2025/8/1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0F4799-BCB2-4324-955E-71FCFE1013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0"/>
            <a:ext cx="9144000" cy="41151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dirty="0" smtClean="0">
                <a:solidFill>
                  <a:schemeClr val="bg1">
                    <a:lumMod val="50000"/>
                  </a:schemeClr>
                </a:solidFill>
                <a:latin typeface="HGP創英角ｺﾞｼｯｸUB"/>
                <a:ea typeface="HGP創英角ｺﾞｼｯｸUB"/>
              </a:rPr>
              <a:t>ロクシタン様　</a:t>
            </a:r>
            <a:r>
              <a:rPr lang="en-US" altLang="ja-JP" dirty="0" smtClean="0">
                <a:solidFill>
                  <a:schemeClr val="bg1">
                    <a:lumMod val="50000"/>
                  </a:schemeClr>
                </a:solidFill>
                <a:latin typeface="HGP創英角ｺﾞｼｯｸUB"/>
                <a:ea typeface="HGP創英角ｺﾞｼｯｸUB"/>
              </a:rPr>
              <a:t>2025.6 </a:t>
            </a:r>
            <a:r>
              <a:rPr lang="en-US" altLang="ja-JP" dirty="0" err="1" smtClean="0">
                <a:solidFill>
                  <a:schemeClr val="bg1">
                    <a:lumMod val="50000"/>
                  </a:schemeClr>
                </a:solidFill>
                <a:latin typeface="HGP創英角ｺﾞｼｯｸUB"/>
                <a:ea typeface="HGP創英角ｺﾞｼｯｸUB"/>
              </a:rPr>
              <a:t>PureFresh</a:t>
            </a:r>
            <a:r>
              <a:rPr lang="en-US" altLang="ja-JP" dirty="0" smtClean="0">
                <a:solidFill>
                  <a:schemeClr val="bg1">
                    <a:lumMod val="50000"/>
                  </a:schemeClr>
                </a:solidFill>
                <a:latin typeface="HGP創英角ｺﾞｼｯｸUB"/>
                <a:ea typeface="HGP創英角ｺﾞｼｯｸUB"/>
              </a:rPr>
              <a:t> GWP</a:t>
            </a:r>
            <a:r>
              <a:rPr lang="ja-JP" altLang="en-US" dirty="0" smtClean="0">
                <a:solidFill>
                  <a:schemeClr val="bg1">
                    <a:lumMod val="50000"/>
                  </a:schemeClr>
                </a:solidFill>
                <a:latin typeface="HGP創英角ｺﾞｼｯｸUB"/>
                <a:ea typeface="HGP創英角ｺﾞｼｯｸUB"/>
              </a:rPr>
              <a:t>　ご提案書</a:t>
            </a:r>
            <a:endParaRPr lang="ja-JP" altLang="en-US" dirty="0">
              <a:solidFill>
                <a:schemeClr val="bg1">
                  <a:lumMod val="50000"/>
                </a:schemeClr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0" y="493245"/>
            <a:ext cx="8834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 smtClean="0">
                <a:latin typeface="HGSSoeiKakugothicUB" panose="020B0900000000000000" pitchFamily="34" charset="-128"/>
                <a:ea typeface="HGSSoeiKakugothicUB" panose="020B0900000000000000" pitchFamily="34" charset="-128"/>
              </a:rPr>
              <a:t>商品名：</a:t>
            </a:r>
            <a:r>
              <a:rPr lang="en-US" altLang="ja-JP" dirty="0" smtClean="0">
                <a:latin typeface="HGSSoeiKakugothicUB" panose="020B0900000000000000" pitchFamily="34" charset="-128"/>
                <a:ea typeface="HGSSoeiKakugothicUB" panose="020B0900000000000000" pitchFamily="34" charset="-128"/>
              </a:rPr>
              <a:t>4WAY </a:t>
            </a:r>
            <a:r>
              <a:rPr lang="ja-JP" altLang="en-US" dirty="0" smtClean="0">
                <a:latin typeface="HGSSoeiKakugothicUB" panose="020B0900000000000000" pitchFamily="34" charset="-128"/>
                <a:ea typeface="HGSSoeiKakugothicUB" panose="020B0900000000000000" pitchFamily="34" charset="-128"/>
              </a:rPr>
              <a:t>マルチショール</a:t>
            </a:r>
            <a:endParaRPr lang="ja-JP" altLang="en-US" dirty="0">
              <a:solidFill>
                <a:srgbClr val="FF0000"/>
              </a:solidFill>
              <a:latin typeface="HGSSoeiKakugothicUB" panose="020B0900000000000000" pitchFamily="34" charset="-128"/>
              <a:ea typeface="HGSSoeiKakugothicUB" panose="020B0900000000000000" pitchFamily="34" charset="-128"/>
            </a:endParaRPr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5295384" y="884118"/>
            <a:ext cx="3783379" cy="526297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ja-JP" altLang="en-US" sz="1200" dirty="0" smtClean="0">
                <a:latin typeface="HGP創英角ｺﾞｼｯｸUB" panose="020B0900000000000000" pitchFamily="50" charset="-128"/>
                <a:ea typeface="HGP創英角ｺﾞｼｯｸUB" panose="020B0900000000000000" pitchFamily="50" charset="-128"/>
                <a:sym typeface="Wingdings" panose="05000000000000000000"/>
              </a:rPr>
              <a:t>サイズ：約</a:t>
            </a:r>
            <a:r>
              <a:rPr lang="en-US" altLang="ja-JP" sz="1200" dirty="0" smtClean="0">
                <a:latin typeface="HGP創英角ｺﾞｼｯｸUB" panose="020B0900000000000000" pitchFamily="50" charset="-128"/>
                <a:ea typeface="HGP創英角ｺﾞｼｯｸUB" panose="020B0900000000000000" pitchFamily="50" charset="-128"/>
                <a:sym typeface="Wingdings" panose="05000000000000000000"/>
              </a:rPr>
              <a:t>180×H50cm</a:t>
            </a:r>
            <a:r>
              <a:rPr lang="ja-JP" altLang="en-US" sz="1200" dirty="0" smtClean="0">
                <a:latin typeface="HGP創英角ｺﾞｼｯｸUB" panose="020B0900000000000000" pitchFamily="50" charset="-128"/>
                <a:ea typeface="HGP創英角ｺﾞｼｯｸUB" panose="020B0900000000000000" pitchFamily="50" charset="-128"/>
                <a:sym typeface="Wingdings" panose="05000000000000000000"/>
              </a:rPr>
              <a:t>　抜き房</a:t>
            </a:r>
            <a:r>
              <a:rPr lang="en-US" altLang="ja-JP" sz="1200" dirty="0" smtClean="0">
                <a:latin typeface="HGP創英角ｺﾞｼｯｸUB" panose="020B0900000000000000" pitchFamily="50" charset="-128"/>
                <a:ea typeface="HGP創英角ｺﾞｼｯｸUB" panose="020B0900000000000000" pitchFamily="50" charset="-128"/>
                <a:sym typeface="Wingdings" panose="05000000000000000000"/>
              </a:rPr>
              <a:t>10cm</a:t>
            </a:r>
          </a:p>
          <a:p>
            <a:r>
              <a:rPr lang="ja-JP" altLang="en-US" sz="1200" dirty="0" smtClean="0">
                <a:latin typeface="HGP創英角ｺﾞｼｯｸUB" panose="020B0900000000000000" pitchFamily="50" charset="-128"/>
                <a:ea typeface="HGP創英角ｺﾞｼｯｸUB" panose="020B0900000000000000" pitchFamily="50" charset="-128"/>
                <a:sym typeface="Wingdings" panose="05000000000000000000"/>
              </a:rPr>
              <a:t>素材：再生ポリエステル</a:t>
            </a:r>
            <a:endParaRPr lang="en-US" altLang="ja-JP" sz="1200" dirty="0" smtClean="0">
              <a:latin typeface="HGP創英角ｺﾞｼｯｸUB" panose="020B0900000000000000" pitchFamily="50" charset="-128"/>
              <a:ea typeface="HGP創英角ｺﾞｼｯｸUB" panose="020B0900000000000000" pitchFamily="50" charset="-128"/>
              <a:sym typeface="Wingdings" panose="05000000000000000000"/>
            </a:endParaRPr>
          </a:p>
          <a:p>
            <a:r>
              <a:rPr lang="ja-JP" altLang="en-US" sz="1200" dirty="0" smtClean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印刷：先染め４色まで可</a:t>
            </a:r>
            <a:endParaRPr lang="en-US" altLang="ja-JP" sz="1200" dirty="0" smtClean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r>
              <a:rPr lang="ja-JP" altLang="en-US" sz="1200" dirty="0" smtClean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付属：コットンネーム</a:t>
            </a:r>
            <a:r>
              <a:rPr lang="en-US" altLang="ja-JP" sz="1200" dirty="0" smtClean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2C</a:t>
            </a:r>
            <a:r>
              <a:rPr lang="ja-JP" altLang="en-US" sz="1200" dirty="0" smtClean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印刷　</a:t>
            </a:r>
            <a:r>
              <a:rPr lang="en-US" altLang="ja-JP" sz="1200" dirty="0" smtClean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5</a:t>
            </a:r>
            <a:r>
              <a:rPr lang="en-US" altLang="ja-JP" sz="12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×</a:t>
            </a:r>
            <a:r>
              <a:rPr lang="en-US" altLang="ja-JP" sz="1200" dirty="0" smtClean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3</a:t>
            </a:r>
            <a:r>
              <a:rPr lang="ja-JP" altLang="en-US" sz="1200" dirty="0" smtClean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ｃｍ（挟みたたき）</a:t>
            </a:r>
            <a:endParaRPr lang="en-US" altLang="ja-JP" sz="1200" dirty="0" smtClean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r>
              <a:rPr lang="ja-JP" altLang="en-US" sz="1200" dirty="0" smtClean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仕様：</a:t>
            </a:r>
            <a:r>
              <a:rPr lang="en-US" altLang="ja-JP" sz="1200" dirty="0" smtClean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1</a:t>
            </a:r>
            <a:r>
              <a:rPr lang="ja-JP" altLang="en-US" sz="1200" dirty="0" smtClean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個木のボタン付き</a:t>
            </a:r>
            <a:endParaRPr lang="en-US" altLang="ja-JP" sz="1200" dirty="0" smtClean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r>
              <a:rPr lang="ja-JP" altLang="en-US" sz="1200" dirty="0" smtClean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梱包：クラフト紙</a:t>
            </a:r>
            <a:r>
              <a:rPr lang="en-US" altLang="ja-JP" sz="1200" dirty="0" smtClean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80</a:t>
            </a:r>
            <a:r>
              <a:rPr lang="en-US" altLang="ja-JP" sz="12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×</a:t>
            </a:r>
            <a:r>
              <a:rPr lang="en-US" altLang="ja-JP" sz="1200" dirty="0" smtClean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15</a:t>
            </a:r>
            <a:r>
              <a:rPr lang="ja-JP" altLang="en-US" sz="1200" dirty="0" smtClean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㎝巻き（仮）＋１Ｃ印字</a:t>
            </a:r>
            <a:endParaRPr lang="en-US" altLang="ja-JP" sz="1200" dirty="0" smtClean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r>
              <a:rPr lang="ja-JP" altLang="en-US" sz="1200" dirty="0" smtClean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生産：中国</a:t>
            </a:r>
            <a:endParaRPr lang="en-US" altLang="ja-JP" sz="1200" dirty="0" smtClean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endParaRPr lang="en-US" altLang="ja-JP" sz="1200" dirty="0" smtClean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r>
              <a:rPr lang="ja-JP" altLang="en-US" sz="1200" dirty="0" smtClean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数量：</a:t>
            </a:r>
            <a:r>
              <a:rPr lang="en-US" altLang="ja-JP" sz="1200" dirty="0" smtClean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3,000</a:t>
            </a:r>
            <a:r>
              <a:rPr lang="ja-JP" altLang="en-US" sz="1200" dirty="0" smtClean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個 （予約分</a:t>
            </a:r>
            <a:r>
              <a:rPr lang="en-US" altLang="ja-JP" sz="1200" dirty="0" smtClean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150</a:t>
            </a:r>
            <a:r>
              <a:rPr lang="ja-JP" altLang="en-US" sz="1200" dirty="0" smtClean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＋量産</a:t>
            </a:r>
            <a:r>
              <a:rPr lang="en-US" altLang="ja-JP" sz="1200" dirty="0" smtClean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2,850</a:t>
            </a:r>
            <a:r>
              <a:rPr lang="ja-JP" altLang="en-US" sz="1200" dirty="0" smtClean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）</a:t>
            </a:r>
            <a:endParaRPr lang="en-US" altLang="ja-JP" sz="1200" dirty="0" smtClean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endParaRPr lang="en-US" altLang="ja-JP" sz="1200" dirty="0" smtClean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r>
              <a:rPr lang="en-US" altLang="ja-JP" sz="1200" dirty="0" smtClean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7/17</a:t>
            </a:r>
            <a:r>
              <a:rPr lang="ja-JP" altLang="en-US" sz="1200" dirty="0" smtClean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　見積</a:t>
            </a:r>
            <a:r>
              <a:rPr lang="ja-JP" altLang="en-US" sz="1200" dirty="0" smtClean="0">
                <a:latin typeface="HGP創英角ｺﾞｼｯｸUB" panose="020B0900000000000000" pitchFamily="50" charset="-128"/>
                <a:ea typeface="HGP創英角ｺﾞｼｯｸUB" panose="020B0900000000000000" pitchFamily="50" charset="-128"/>
                <a:sym typeface="Wingdings" panose="05000000000000000000" pitchFamily="2" charset="2"/>
              </a:rPr>
              <a:t>：＠</a:t>
            </a:r>
            <a:r>
              <a:rPr lang="en-US" altLang="ja-JP" sz="1200" dirty="0" smtClean="0">
                <a:latin typeface="HGP創英角ｺﾞｼｯｸUB" panose="020B0900000000000000" pitchFamily="50" charset="-128"/>
                <a:ea typeface="HGP創英角ｺﾞｼｯｸUB" panose="020B0900000000000000" pitchFamily="50" charset="-128"/>
                <a:sym typeface="Wingdings" panose="05000000000000000000" pitchFamily="2" charset="2"/>
              </a:rPr>
              <a:t>760</a:t>
            </a:r>
            <a:r>
              <a:rPr lang="ja-JP" altLang="en-US" sz="1200" dirty="0" smtClean="0">
                <a:latin typeface="HGP創英角ｺﾞｼｯｸUB" panose="020B0900000000000000" pitchFamily="50" charset="-128"/>
                <a:ea typeface="HGP創英角ｺﾞｼｯｸUB" panose="020B0900000000000000" pitchFamily="50" charset="-128"/>
                <a:sym typeface="Wingdings" panose="05000000000000000000" pitchFamily="2" charset="2"/>
              </a:rPr>
              <a:t>円</a:t>
            </a:r>
            <a:endParaRPr lang="en-US" altLang="ja-JP" sz="1200" dirty="0" smtClean="0">
              <a:latin typeface="HGP創英角ｺﾞｼｯｸUB" panose="020B0900000000000000" pitchFamily="50" charset="-128"/>
              <a:ea typeface="HGP創英角ｺﾞｼｯｸUB" panose="020B0900000000000000" pitchFamily="50" charset="-128"/>
              <a:sym typeface="Wingdings" panose="05000000000000000000" pitchFamily="2" charset="2"/>
            </a:endParaRPr>
          </a:p>
          <a:p>
            <a:endParaRPr lang="en-US" altLang="ja-JP" sz="1200" dirty="0">
              <a:solidFill>
                <a:srgbClr val="0070C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sym typeface="Wingdings" panose="05000000000000000000" pitchFamily="2" charset="2"/>
            </a:endParaRPr>
          </a:p>
          <a:p>
            <a:r>
              <a:rPr lang="en-US" altLang="ja-JP" sz="1200" dirty="0" smtClean="0">
                <a:solidFill>
                  <a:srgbClr val="0070C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sym typeface="Wingdings" panose="05000000000000000000" pitchFamily="2" charset="2"/>
              </a:rPr>
              <a:t>【7/29</a:t>
            </a:r>
            <a:r>
              <a:rPr lang="ja-JP" altLang="en-US" sz="1200" dirty="0" smtClean="0">
                <a:solidFill>
                  <a:srgbClr val="0070C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sym typeface="Wingdings" panose="05000000000000000000" pitchFamily="2" charset="2"/>
              </a:rPr>
              <a:t>更新</a:t>
            </a:r>
            <a:r>
              <a:rPr lang="ja-JP" altLang="en-US" sz="1200" dirty="0" smtClean="0">
                <a:solidFill>
                  <a:srgbClr val="0070C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sym typeface="Wingdings" panose="05000000000000000000" pitchFamily="2" charset="2"/>
              </a:rPr>
              <a:t>見積</a:t>
            </a:r>
            <a:r>
              <a:rPr lang="en-US" altLang="ja-JP" sz="1200" dirty="0" smtClean="0">
                <a:solidFill>
                  <a:srgbClr val="0070C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sym typeface="Wingdings" panose="05000000000000000000" pitchFamily="2" charset="2"/>
              </a:rPr>
              <a:t>】</a:t>
            </a:r>
          </a:p>
          <a:p>
            <a:r>
              <a:rPr lang="ja-JP" altLang="en-US" sz="1200" dirty="0" smtClean="0">
                <a:solidFill>
                  <a:srgbClr val="0070C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sym typeface="Wingdings" panose="05000000000000000000" pitchFamily="2" charset="2"/>
              </a:rPr>
              <a:t>ネームサイズ　縦</a:t>
            </a:r>
            <a:r>
              <a:rPr lang="en-US" altLang="ja-JP" sz="1200" dirty="0" smtClean="0">
                <a:solidFill>
                  <a:srgbClr val="0070C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sym typeface="Wingdings" panose="05000000000000000000" pitchFamily="2" charset="2"/>
              </a:rPr>
              <a:t>80×</a:t>
            </a:r>
            <a:r>
              <a:rPr lang="ja-JP" altLang="en-US" sz="1200" dirty="0" smtClean="0">
                <a:solidFill>
                  <a:srgbClr val="0070C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sym typeface="Wingdings" panose="05000000000000000000" pitchFamily="2" charset="2"/>
              </a:rPr>
              <a:t>横</a:t>
            </a:r>
            <a:r>
              <a:rPr lang="en-US" altLang="ja-JP" sz="1200" dirty="0" smtClean="0">
                <a:solidFill>
                  <a:srgbClr val="0070C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sym typeface="Wingdings" panose="05000000000000000000" pitchFamily="2" charset="2"/>
              </a:rPr>
              <a:t>100mm</a:t>
            </a:r>
            <a:r>
              <a:rPr lang="ja-JP" altLang="en-US" sz="1200" dirty="0">
                <a:solidFill>
                  <a:srgbClr val="0070C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sym typeface="Wingdings" panose="05000000000000000000" pitchFamily="2" charset="2"/>
              </a:rPr>
              <a:t>　</a:t>
            </a:r>
            <a:r>
              <a:rPr lang="ja-JP" altLang="en-US" sz="1200" dirty="0" smtClean="0">
                <a:solidFill>
                  <a:srgbClr val="0070C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sym typeface="Wingdings" panose="05000000000000000000" pitchFamily="2" charset="2"/>
              </a:rPr>
              <a:t>２点たたき止め</a:t>
            </a:r>
            <a:endParaRPr lang="en-US" altLang="ja-JP" sz="1200" dirty="0" smtClean="0">
              <a:solidFill>
                <a:srgbClr val="0070C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sym typeface="Wingdings" panose="05000000000000000000" pitchFamily="2" charset="2"/>
            </a:endParaRPr>
          </a:p>
          <a:p>
            <a:r>
              <a:rPr lang="ja-JP" altLang="en-US" sz="1200" dirty="0">
                <a:solidFill>
                  <a:srgbClr val="0070C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sym typeface="Wingdings" panose="05000000000000000000" pitchFamily="2" charset="2"/>
              </a:rPr>
              <a:t>金</a:t>
            </a:r>
            <a:r>
              <a:rPr lang="ja-JP" altLang="en-US" sz="1200" dirty="0" smtClean="0">
                <a:solidFill>
                  <a:srgbClr val="0070C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sym typeface="Wingdings" panose="05000000000000000000" pitchFamily="2" charset="2"/>
              </a:rPr>
              <a:t>顔料の場合　見積：＠</a:t>
            </a:r>
            <a:r>
              <a:rPr lang="en-US" altLang="ja-JP" sz="1200" dirty="0" smtClean="0">
                <a:solidFill>
                  <a:srgbClr val="0070C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sym typeface="Wingdings" panose="05000000000000000000" pitchFamily="2" charset="2"/>
              </a:rPr>
              <a:t>815</a:t>
            </a:r>
            <a:r>
              <a:rPr lang="ja-JP" altLang="en-US" sz="1200" dirty="0" smtClean="0">
                <a:solidFill>
                  <a:srgbClr val="0070C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sym typeface="Wingdings" panose="05000000000000000000" pitchFamily="2" charset="2"/>
              </a:rPr>
              <a:t>円</a:t>
            </a:r>
            <a:endParaRPr lang="en-US" altLang="ja-JP" sz="1200" dirty="0" smtClean="0">
              <a:solidFill>
                <a:srgbClr val="0070C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sym typeface="Wingdings" panose="05000000000000000000" pitchFamily="2" charset="2"/>
            </a:endParaRPr>
          </a:p>
          <a:p>
            <a:endParaRPr lang="en-US" altLang="ja-JP" sz="1200" dirty="0">
              <a:solidFill>
                <a:srgbClr val="0070C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sym typeface="Wingdings" panose="05000000000000000000" pitchFamily="2" charset="2"/>
            </a:endParaRPr>
          </a:p>
          <a:p>
            <a:r>
              <a:rPr lang="ja-JP" altLang="en-US" sz="1200" dirty="0" smtClean="0">
                <a:solidFill>
                  <a:srgbClr val="0070C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sym typeface="Wingdings" panose="05000000000000000000" pitchFamily="2" charset="2"/>
              </a:rPr>
              <a:t>ネームサイズ　縦</a:t>
            </a:r>
            <a:r>
              <a:rPr lang="en-US" altLang="ja-JP" sz="1200" dirty="0" smtClean="0">
                <a:solidFill>
                  <a:srgbClr val="0070C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sym typeface="Wingdings" panose="05000000000000000000" pitchFamily="2" charset="2"/>
              </a:rPr>
              <a:t>80×</a:t>
            </a:r>
            <a:r>
              <a:rPr lang="ja-JP" altLang="en-US" sz="1200" dirty="0" smtClean="0">
                <a:solidFill>
                  <a:srgbClr val="0070C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sym typeface="Wingdings" panose="05000000000000000000" pitchFamily="2" charset="2"/>
              </a:rPr>
              <a:t>横</a:t>
            </a:r>
            <a:r>
              <a:rPr lang="en-US" altLang="ja-JP" sz="1200" dirty="0" smtClean="0">
                <a:solidFill>
                  <a:srgbClr val="0070C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sym typeface="Wingdings" panose="05000000000000000000" pitchFamily="2" charset="2"/>
              </a:rPr>
              <a:t>100mm</a:t>
            </a:r>
            <a:r>
              <a:rPr lang="ja-JP" altLang="en-US" sz="1200" dirty="0" smtClean="0">
                <a:solidFill>
                  <a:srgbClr val="0070C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sym typeface="Wingdings" panose="05000000000000000000" pitchFamily="2" charset="2"/>
              </a:rPr>
              <a:t>　２点たたき止め</a:t>
            </a:r>
            <a:endParaRPr lang="en-US" altLang="ja-JP" sz="1200" dirty="0" smtClean="0">
              <a:solidFill>
                <a:srgbClr val="0070C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sym typeface="Wingdings" panose="05000000000000000000" pitchFamily="2" charset="2"/>
            </a:endParaRPr>
          </a:p>
          <a:p>
            <a:r>
              <a:rPr lang="ja-JP" altLang="en-US" sz="1200" dirty="0">
                <a:solidFill>
                  <a:srgbClr val="0070C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sym typeface="Wingdings" panose="05000000000000000000" pitchFamily="2" charset="2"/>
              </a:rPr>
              <a:t>２</a:t>
            </a:r>
            <a:r>
              <a:rPr lang="en-US" altLang="ja-JP" sz="1200" dirty="0" smtClean="0">
                <a:solidFill>
                  <a:srgbClr val="0070C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sym typeface="Wingdings" panose="05000000000000000000" pitchFamily="2" charset="2"/>
              </a:rPr>
              <a:t>C</a:t>
            </a:r>
            <a:r>
              <a:rPr lang="ja-JP" altLang="en-US" sz="1200" dirty="0" smtClean="0">
                <a:solidFill>
                  <a:srgbClr val="0070C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sym typeface="Wingdings" panose="05000000000000000000" pitchFamily="2" charset="2"/>
              </a:rPr>
              <a:t>印刷の場合　見積：＠</a:t>
            </a:r>
            <a:r>
              <a:rPr lang="en-US" altLang="ja-JP" sz="1200" dirty="0" smtClean="0">
                <a:solidFill>
                  <a:srgbClr val="0070C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sym typeface="Wingdings" panose="05000000000000000000" pitchFamily="2" charset="2"/>
              </a:rPr>
              <a:t>785</a:t>
            </a:r>
            <a:r>
              <a:rPr lang="ja-JP" altLang="en-US" sz="1200" dirty="0" smtClean="0">
                <a:solidFill>
                  <a:srgbClr val="0070C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sym typeface="Wingdings" panose="05000000000000000000" pitchFamily="2" charset="2"/>
              </a:rPr>
              <a:t>円</a:t>
            </a:r>
            <a:endParaRPr lang="en-US" altLang="ja-JP" sz="1200" dirty="0" smtClean="0">
              <a:solidFill>
                <a:srgbClr val="0070C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sym typeface="Wingdings" panose="05000000000000000000" pitchFamily="2" charset="2"/>
            </a:endParaRPr>
          </a:p>
          <a:p>
            <a:endParaRPr lang="en-US" altLang="ja-JP" sz="1200" dirty="0">
              <a:solidFill>
                <a:srgbClr val="0070C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sym typeface="Wingdings" panose="05000000000000000000" pitchFamily="2" charset="2"/>
            </a:endParaRPr>
          </a:p>
          <a:p>
            <a:r>
              <a:rPr lang="ja-JP" altLang="en-US" sz="1200" dirty="0" smtClean="0">
                <a:solidFill>
                  <a:srgbClr val="0070C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sym typeface="Wingdings" panose="05000000000000000000" pitchFamily="2" charset="2"/>
              </a:rPr>
              <a:t>ボタン止め＋ポケット</a:t>
            </a:r>
            <a:r>
              <a:rPr lang="en-US" altLang="ja-JP" sz="1200" dirty="0" smtClean="0">
                <a:solidFill>
                  <a:srgbClr val="0070C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sym typeface="Wingdings" panose="05000000000000000000" pitchFamily="2" charset="2"/>
              </a:rPr>
              <a:t>2</a:t>
            </a:r>
            <a:r>
              <a:rPr lang="ja-JP" altLang="en-US" sz="1200" dirty="0" smtClean="0">
                <a:solidFill>
                  <a:srgbClr val="0070C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sym typeface="Wingdings" panose="05000000000000000000" pitchFamily="2" charset="2"/>
              </a:rPr>
              <a:t>個付きの場合</a:t>
            </a:r>
            <a:endParaRPr lang="en-US" altLang="ja-JP" sz="1200" dirty="0" smtClean="0">
              <a:solidFill>
                <a:srgbClr val="0070C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sym typeface="Wingdings" panose="05000000000000000000" pitchFamily="2" charset="2"/>
            </a:endParaRPr>
          </a:p>
          <a:p>
            <a:r>
              <a:rPr lang="ja-JP" altLang="en-US" sz="1200" dirty="0" smtClean="0">
                <a:solidFill>
                  <a:srgbClr val="0070C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sym typeface="Wingdings" panose="05000000000000000000" pitchFamily="2" charset="2"/>
              </a:rPr>
              <a:t>見積に　＠＋</a:t>
            </a:r>
            <a:r>
              <a:rPr lang="en-US" altLang="ja-JP" sz="1200" dirty="0" smtClean="0">
                <a:solidFill>
                  <a:srgbClr val="0070C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sym typeface="Wingdings" panose="05000000000000000000" pitchFamily="2" charset="2"/>
              </a:rPr>
              <a:t>100</a:t>
            </a:r>
            <a:r>
              <a:rPr lang="ja-JP" altLang="en-US" sz="1200" dirty="0" smtClean="0">
                <a:solidFill>
                  <a:srgbClr val="0070C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sym typeface="Wingdings" panose="05000000000000000000" pitchFamily="2" charset="2"/>
              </a:rPr>
              <a:t>円</a:t>
            </a:r>
            <a:endParaRPr lang="en-US" altLang="ja-JP" sz="1200" dirty="0" smtClean="0">
              <a:solidFill>
                <a:srgbClr val="0070C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sym typeface="Wingdings" panose="05000000000000000000" pitchFamily="2" charset="2"/>
            </a:endParaRPr>
          </a:p>
          <a:p>
            <a:endParaRPr lang="en-US" altLang="ja-JP" sz="1200" dirty="0">
              <a:solidFill>
                <a:srgbClr val="0070C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sym typeface="Wingdings" panose="05000000000000000000" pitchFamily="2" charset="2"/>
            </a:endParaRPr>
          </a:p>
          <a:p>
            <a:r>
              <a:rPr lang="en-US" altLang="ja-JP" sz="1200" dirty="0" smtClean="0">
                <a:solidFill>
                  <a:schemeClr val="accent6">
                    <a:lumMod val="50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sym typeface="Wingdings" panose="05000000000000000000" pitchFamily="2" charset="2"/>
              </a:rPr>
              <a:t>【8/1</a:t>
            </a:r>
            <a:r>
              <a:rPr lang="ja-JP" altLang="en-US" sz="1200" dirty="0" smtClean="0">
                <a:solidFill>
                  <a:schemeClr val="accent6">
                    <a:lumMod val="50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sym typeface="Wingdings" panose="05000000000000000000" pitchFamily="2" charset="2"/>
              </a:rPr>
              <a:t>更新見積</a:t>
            </a:r>
            <a:r>
              <a:rPr lang="en-US" altLang="ja-JP" sz="1200" dirty="0" smtClean="0">
                <a:solidFill>
                  <a:schemeClr val="accent6">
                    <a:lumMod val="50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sym typeface="Wingdings" panose="05000000000000000000" pitchFamily="2" charset="2"/>
              </a:rPr>
              <a:t>】</a:t>
            </a:r>
          </a:p>
          <a:p>
            <a:r>
              <a:rPr lang="ja-JP" altLang="en-US" sz="1200" dirty="0" smtClean="0">
                <a:solidFill>
                  <a:schemeClr val="accent6">
                    <a:lumMod val="50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sym typeface="Wingdings" panose="05000000000000000000" pitchFamily="2" charset="2"/>
              </a:rPr>
              <a:t>ネームサイズ　縦</a:t>
            </a:r>
            <a:r>
              <a:rPr lang="en-US" altLang="ja-JP" sz="1200" dirty="0" smtClean="0">
                <a:solidFill>
                  <a:schemeClr val="accent6">
                    <a:lumMod val="50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sym typeface="Wingdings" panose="05000000000000000000" pitchFamily="2" charset="2"/>
              </a:rPr>
              <a:t>40×</a:t>
            </a:r>
            <a:r>
              <a:rPr lang="ja-JP" altLang="en-US" sz="1200" dirty="0" smtClean="0">
                <a:solidFill>
                  <a:schemeClr val="accent6">
                    <a:lumMod val="50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sym typeface="Wingdings" panose="05000000000000000000" pitchFamily="2" charset="2"/>
              </a:rPr>
              <a:t>横</a:t>
            </a:r>
            <a:r>
              <a:rPr lang="en-US" altLang="ja-JP" sz="1200" dirty="0" smtClean="0">
                <a:solidFill>
                  <a:schemeClr val="accent6">
                    <a:lumMod val="50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sym typeface="Wingdings" panose="05000000000000000000" pitchFamily="2" charset="2"/>
              </a:rPr>
              <a:t>60mm</a:t>
            </a:r>
            <a:r>
              <a:rPr lang="ja-JP" altLang="en-US" sz="1200" dirty="0" smtClean="0">
                <a:solidFill>
                  <a:schemeClr val="accent6">
                    <a:lumMod val="50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sym typeface="Wingdings" panose="05000000000000000000" pitchFamily="2" charset="2"/>
              </a:rPr>
              <a:t>　</a:t>
            </a:r>
            <a:r>
              <a:rPr lang="en-US" altLang="ja-JP" sz="1200" dirty="0" smtClean="0">
                <a:solidFill>
                  <a:schemeClr val="accent6">
                    <a:lumMod val="50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sym typeface="Wingdings" panose="05000000000000000000" pitchFamily="2" charset="2"/>
              </a:rPr>
              <a:t>2</a:t>
            </a:r>
            <a:r>
              <a:rPr lang="ja-JP" altLang="en-US" sz="1200" dirty="0" smtClean="0">
                <a:solidFill>
                  <a:schemeClr val="accent6">
                    <a:lumMod val="50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sym typeface="Wingdings" panose="05000000000000000000" pitchFamily="2" charset="2"/>
              </a:rPr>
              <a:t>点たたき止め</a:t>
            </a:r>
            <a:endParaRPr lang="en-US" altLang="ja-JP" sz="1200" dirty="0" smtClean="0">
              <a:solidFill>
                <a:schemeClr val="accent6">
                  <a:lumMod val="50000"/>
                </a:schemeClr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sym typeface="Wingdings" panose="05000000000000000000" pitchFamily="2" charset="2"/>
            </a:endParaRPr>
          </a:p>
          <a:p>
            <a:r>
              <a:rPr lang="ja-JP" altLang="en-US" sz="1200" dirty="0">
                <a:solidFill>
                  <a:schemeClr val="accent6">
                    <a:lumMod val="50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sym typeface="Wingdings" panose="05000000000000000000" pitchFamily="2" charset="2"/>
              </a:rPr>
              <a:t>２</a:t>
            </a:r>
            <a:r>
              <a:rPr lang="en-US" altLang="ja-JP" sz="1200" dirty="0" smtClean="0">
                <a:solidFill>
                  <a:schemeClr val="accent6">
                    <a:lumMod val="50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sym typeface="Wingdings" panose="05000000000000000000" pitchFamily="2" charset="2"/>
              </a:rPr>
              <a:t>C</a:t>
            </a:r>
            <a:r>
              <a:rPr lang="ja-JP" altLang="en-US" sz="1200" dirty="0" smtClean="0">
                <a:solidFill>
                  <a:schemeClr val="accent6">
                    <a:lumMod val="50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sym typeface="Wingdings" panose="05000000000000000000" pitchFamily="2" charset="2"/>
              </a:rPr>
              <a:t>印刷の場合　見積：＠</a:t>
            </a:r>
            <a:r>
              <a:rPr lang="en-US" altLang="ja-JP" sz="1200" dirty="0" smtClean="0">
                <a:solidFill>
                  <a:schemeClr val="accent6">
                    <a:lumMod val="50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sym typeface="Wingdings" panose="05000000000000000000" pitchFamily="2" charset="2"/>
              </a:rPr>
              <a:t>770</a:t>
            </a:r>
            <a:r>
              <a:rPr lang="ja-JP" altLang="en-US" sz="1200" dirty="0" smtClean="0">
                <a:solidFill>
                  <a:schemeClr val="accent6">
                    <a:lumMod val="50000"/>
                  </a:schemeClr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sym typeface="Wingdings" panose="05000000000000000000" pitchFamily="2" charset="2"/>
              </a:rPr>
              <a:t>円</a:t>
            </a:r>
            <a:endParaRPr lang="en-US" altLang="ja-JP" sz="1200" dirty="0" smtClean="0">
              <a:solidFill>
                <a:schemeClr val="accent6">
                  <a:lumMod val="50000"/>
                </a:schemeClr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sym typeface="Wingdings" panose="05000000000000000000" pitchFamily="2" charset="2"/>
            </a:endParaRPr>
          </a:p>
          <a:p>
            <a:endParaRPr lang="en-US" altLang="ja-JP" sz="12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  <a:sym typeface="Wingdings" panose="05000000000000000000" pitchFamily="2" charset="2"/>
            </a:endParaRPr>
          </a:p>
          <a:p>
            <a:endParaRPr lang="en-US" altLang="ja-JP" sz="1200" dirty="0" smtClean="0">
              <a:latin typeface="HGP創英角ｺﾞｼｯｸUB" panose="020B0900000000000000" pitchFamily="50" charset="-128"/>
              <a:ea typeface="HGP創英角ｺﾞｼｯｸUB" panose="020B0900000000000000" pitchFamily="50" charset="-128"/>
              <a:sym typeface="Wingdings" panose="05000000000000000000" pitchFamily="2" charset="2"/>
            </a:endParaRPr>
          </a:p>
          <a:p>
            <a:endParaRPr lang="en-US" altLang="ja-JP" sz="1200" dirty="0" smtClean="0">
              <a:latin typeface="HGP創英角ｺﾞｼｯｸUB" panose="020B0900000000000000" pitchFamily="50" charset="-128"/>
              <a:ea typeface="HGP創英角ｺﾞｼｯｸUB" panose="020B0900000000000000" pitchFamily="50" charset="-128"/>
              <a:sym typeface="Wingdings" panose="05000000000000000000" pitchFamily="2" charset="2"/>
            </a:endParaRPr>
          </a:p>
        </p:txBody>
      </p:sp>
      <p:sp>
        <p:nvSpPr>
          <p:cNvPr id="13" name="正方形/長方形 12"/>
          <p:cNvSpPr/>
          <p:nvPr/>
        </p:nvSpPr>
        <p:spPr>
          <a:xfrm>
            <a:off x="8070681" y="83962"/>
            <a:ext cx="95410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ja-JP" sz="1200" dirty="0" smtClean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2025/8/1</a:t>
            </a:r>
            <a:endParaRPr lang="en-US" altLang="ja-JP" sz="1200" dirty="0" smtClean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5088835" y="606650"/>
            <a:ext cx="35755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 smtClean="0">
                <a:latin typeface="HGSSoeiKakugothicUB" panose="020B0900000000000000" pitchFamily="34" charset="-128"/>
                <a:ea typeface="HGSSoeiKakugothicUB" panose="020B0900000000000000" pitchFamily="34" charset="-128"/>
              </a:rPr>
              <a:t>＜</a:t>
            </a:r>
            <a:r>
              <a:rPr lang="ja-JP" altLang="en-US" sz="1200" dirty="0">
                <a:latin typeface="HGSSoeiKakugothicUB" panose="020B0900000000000000" pitchFamily="34" charset="-128"/>
                <a:ea typeface="HGSSoeiKakugothicUB" panose="020B0900000000000000" pitchFamily="34" charset="-128"/>
              </a:rPr>
              <a:t>仕様</a:t>
            </a:r>
            <a:r>
              <a:rPr lang="ja-JP" altLang="en-US" sz="1200" dirty="0" smtClean="0">
                <a:latin typeface="HGSSoeiKakugothicUB" panose="020B0900000000000000" pitchFamily="34" charset="-128"/>
                <a:ea typeface="HGSSoeiKakugothicUB" panose="020B0900000000000000" pitchFamily="34" charset="-128"/>
              </a:rPr>
              <a:t>＞</a:t>
            </a:r>
            <a:endParaRPr lang="ja-JP" altLang="en-US" sz="1200" dirty="0">
              <a:solidFill>
                <a:srgbClr val="FF0000"/>
              </a:solidFill>
              <a:latin typeface="HGSSoeiKakugothicUB" panose="020B0900000000000000" pitchFamily="34" charset="-128"/>
              <a:ea typeface="HGSSoeiKakugothicUB" panose="020B0900000000000000" pitchFamily="34" charset="-128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858" y="5380759"/>
            <a:ext cx="4799580" cy="1348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5097" y="3877829"/>
            <a:ext cx="1047864" cy="13966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テキスト ボックス 1"/>
          <p:cNvSpPr txBox="1"/>
          <p:nvPr/>
        </p:nvSpPr>
        <p:spPr>
          <a:xfrm>
            <a:off x="3822961" y="4853814"/>
            <a:ext cx="109991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100" dirty="0" smtClean="0"/>
              <a:t>クラフト</a:t>
            </a:r>
            <a:r>
              <a:rPr lang="ja-JP" altLang="en-US" sz="1100" dirty="0" smtClean="0"/>
              <a:t>紙巻</a:t>
            </a:r>
            <a:endParaRPr lang="en-US" altLang="ja-JP" sz="1100" dirty="0" smtClean="0"/>
          </a:p>
          <a:p>
            <a:r>
              <a:rPr kumimoji="1" lang="ja-JP" altLang="en-US" sz="1100" dirty="0" smtClean="0"/>
              <a:t>イメージ</a:t>
            </a:r>
            <a:endParaRPr kumimoji="1" lang="ja-JP" altLang="en-US" sz="1100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5497404" y="6420761"/>
            <a:ext cx="15812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 smtClean="0">
                <a:solidFill>
                  <a:srgbClr val="FF0000"/>
                </a:solidFill>
              </a:rPr>
              <a:t>中国　上海見積</a:t>
            </a:r>
            <a:endParaRPr kumimoji="1" lang="ja-JP" altLang="en-US" sz="1400" b="1" dirty="0">
              <a:solidFill>
                <a:srgbClr val="FF0000"/>
              </a:solidFill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93" b="14771"/>
          <a:stretch/>
        </p:blipFill>
        <p:spPr bwMode="auto">
          <a:xfrm>
            <a:off x="95665" y="1482547"/>
            <a:ext cx="2569983" cy="3387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648" y="1329070"/>
            <a:ext cx="2561055" cy="25487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08156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640</TotalTime>
  <Words>19</Words>
  <Application>Microsoft Office PowerPoint</Application>
  <PresentationFormat>画面に合わせる (4:3)</PresentationFormat>
  <Paragraphs>33</Paragraphs>
  <Slides>1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2" baseType="lpstr"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BN</dc:creator>
  <cp:lastModifiedBy>Windows ユーザー</cp:lastModifiedBy>
  <cp:revision>114</cp:revision>
  <dcterms:created xsi:type="dcterms:W3CDTF">2022-10-25T04:22:00Z</dcterms:created>
  <dcterms:modified xsi:type="dcterms:W3CDTF">2025-08-01T04:10:46Z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902BC60DC05F4C7AA52C82D95810ABF2_12</vt:lpwstr>
  </property>
  <property fmtid="{D5CDD505-2E9C-101B-9397-08002B2CF9AE}" pid="3" name="KSOProductBuildVer">
    <vt:lpwstr>2052-12.1.0.21915</vt:lpwstr>
  </property>
</Properties>
</file>